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italic ns1:id="rIdFont17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89212077-b7f0-4f2b-9156-f6b9e3dd83f6.fntdata" /><ns0:Relationship Id="rIdFont18" Type="http://schemas.openxmlformats.org/officeDocument/2006/relationships/font" Target="fonts/283c168d-109b-45ef-9ec6-cebe9e6d17a7.fntdata" /><ns0:Relationship Id="rIdFont19" Type="http://schemas.openxmlformats.org/officeDocument/2006/relationships/font" Target="fonts/f0717d12-80d0-4dc0-8b52-b6ced796759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732883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87016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PROFESSIONAL TRAINING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39441"/>
            <a:ext cx="9101137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Microsoft 365 Copilot: 6-Day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56583"/>
            <a:ext cx="676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Accelerate productivity across Word, Excel, PowerPoint, Outlook, and Teams.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67075"/>
            <a:ext cx="3429000" cy="156210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1500" y="3267075"/>
            <a:ext cx="3429000" cy="156210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01000" y="3267075"/>
            <a:ext cx="3429000" cy="156210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267075"/>
            <a:ext cx="342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1500" y="3267075"/>
            <a:ext cx="34290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3267075"/>
            <a:ext cx="3429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02882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6-Day Learning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71750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Mastering AI-assisted workflows app by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718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819525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Create, rewrite, summarize &amp; improve documents.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5718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819525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Analyze data, build formulas, &amp; chart insights.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5718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19525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PowerPoint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Structure slides and generate speaker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90812"/>
            <a:ext cx="10668000" cy="13335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252912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695450"/>
            <a:ext cx="571500" cy="247650"/>
          </a:xfrm>
          <a:prstGeom prst="roundRect">
            <a:avLst>
              <a:gd name="adj" fmla="val 2307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252912"/>
            <a:ext cx="5715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109787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Transform notes and raw text into polished documents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733550"/>
            <a:ext cx="438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1604962"/>
            <a:ext cx="3062882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Word Mastery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043237"/>
            <a:ext cx="11077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CORE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376612"/>
            <a:ext cx="110775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Create → Rewrite → Summarize → Improve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519612"/>
            <a:ext cx="11029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EXAMPLE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748212"/>
            <a:ext cx="110299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0C4A6E"/>
                </a:solidFill>
                <a:latin typeface="Plus Jakarta Sans"/>
              </a:rPr>
              <a:t>“Turn these notes into a professional business report.”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90812"/>
            <a:ext cx="10668000" cy="133350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252912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69545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252912"/>
            <a:ext cx="57150" cy="10001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109787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Unlock deep financial and operational insights without manual formula writing.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733550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1604962"/>
            <a:ext cx="380047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Excel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043237"/>
            <a:ext cx="11077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Plus Jakarta Sans"/>
              </a:rPr>
              <a:t>CORE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376612"/>
            <a:ext cx="110775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Analyze → Formula → Table → Chart →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519612"/>
            <a:ext cx="11029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EXAMPLE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748212"/>
            <a:ext cx="110299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14532D"/>
                </a:solidFill>
                <a:latin typeface="Plus Jakarta Sans"/>
              </a:rPr>
              <a:t>“Analyze this sales data and identify the three biggest trends.”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90812"/>
            <a:ext cx="10668000" cy="13335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252912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695450"/>
            <a:ext cx="600075" cy="247650"/>
          </a:xfrm>
          <a:prstGeom prst="roundRect">
            <a:avLst>
              <a:gd name="adj" fmla="val 23076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252912"/>
            <a:ext cx="57150" cy="1000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109787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Convert heavy documents into impactful visual presentations in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733550"/>
            <a:ext cx="466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6375" y="1604962"/>
            <a:ext cx="5638204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PowerPoint 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043237"/>
            <a:ext cx="11077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A580C"/>
                </a:solidFill>
                <a:latin typeface="Plus Jakarta Sans"/>
              </a:rPr>
              <a:t>CORE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376612"/>
            <a:ext cx="110775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Create → Structure → Slides → Speaker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519612"/>
            <a:ext cx="11029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EXAMPLE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748212"/>
            <a:ext cx="110299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7C2D12"/>
                </a:solidFill>
                <a:latin typeface="Plus Jakarta Sans"/>
              </a:rPr>
              <a:t>“Turn this Word report into a 10-slide management presentation.”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67075"/>
            <a:ext cx="3429000" cy="156210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1500" y="3267075"/>
            <a:ext cx="3429000" cy="156210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01000" y="3267075"/>
            <a:ext cx="3429000" cy="156210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267075"/>
            <a:ext cx="34290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1500" y="3267075"/>
            <a:ext cx="34290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3267075"/>
            <a:ext cx="34290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02882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Continuing the Journey (Days 4–6)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71750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Expanding AI capabilities across communications and the entire ecosystem.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718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DAY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819525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Outlook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Summarize email threads and draft quick replies.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5718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DAY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819525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Catch up on meetings, decisions, and action items.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5718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DAY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19525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Cross-app querying across your permitted work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90812"/>
            <a:ext cx="10668000" cy="13335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252912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695450"/>
            <a:ext cx="600075" cy="247650"/>
          </a:xfrm>
          <a:prstGeom prst="roundRect">
            <a:avLst>
              <a:gd name="adj" fmla="val 23076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252912"/>
            <a:ext cx="57150" cy="10001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109787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Cut through email overload with instant summaries and professional drafting.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733550"/>
            <a:ext cx="466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6375" y="1604962"/>
            <a:ext cx="536317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Outlook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043237"/>
            <a:ext cx="11077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F46E5"/>
                </a:solidFill>
                <a:latin typeface="Plus Jakarta Sans"/>
              </a:rPr>
              <a:t>CORE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376612"/>
            <a:ext cx="110775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Summarize → Draft → Rewrite → Meeting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519612"/>
            <a:ext cx="11029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338CA"/>
                </a:solidFill>
                <a:latin typeface="Plus Jakarta Sans"/>
              </a:rPr>
              <a:t>EXAMPLE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748212"/>
            <a:ext cx="110299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312E81"/>
                </a:solidFill>
                <a:latin typeface="Plus Jakarta Sans"/>
              </a:rPr>
              <a:t>“Summarize this email thread and give me the action items.”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90812"/>
            <a:ext cx="10668000" cy="133350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252912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695450"/>
            <a:ext cx="600075" cy="247650"/>
          </a:xfrm>
          <a:prstGeom prst="roundRect">
            <a:avLst>
              <a:gd name="adj" fmla="val 2307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252912"/>
            <a:ext cx="57150" cy="100012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109787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Never miss a meeting detail with automated summaries and decision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733550"/>
            <a:ext cx="466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6375" y="1604962"/>
            <a:ext cx="351293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Teams Meetings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043237"/>
            <a:ext cx="11077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C3AED"/>
                </a:solidFill>
                <a:latin typeface="Plus Jakarta Sans"/>
              </a:rPr>
              <a:t>CORE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376612"/>
            <a:ext cx="110775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Meeting → Summary → Decisions →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519612"/>
            <a:ext cx="11029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21A8"/>
                </a:solidFill>
                <a:latin typeface="Plus Jakarta Sans"/>
              </a:rPr>
              <a:t>EXAMPLE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748212"/>
            <a:ext cx="110299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3B0764"/>
                </a:solidFill>
                <a:latin typeface="Plus Jakarta Sans"/>
              </a:rPr>
              <a:t>“Give me the decisions, action items, owners and deadlines from this meeting.”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52700"/>
            <a:ext cx="10668000" cy="1609725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391025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557337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391025"/>
            <a:ext cx="57150" cy="10001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971675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Connecting data across Outlook, Teams, SharePoint, Word, Excel, and PowerPoint.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595437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DAY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1466850"/>
            <a:ext cx="5938242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Ecosystem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2905125"/>
            <a:ext cx="11077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MASTERING CROSS-APP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238500"/>
            <a:ext cx="10058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Learn how to ask complex questions across your entire permitted organizational data stack while strictly respecting security permissions.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657725"/>
            <a:ext cx="11029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KEY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886325"/>
            <a:ext cx="110299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0F172A"/>
                </a:solidFill>
                <a:latin typeface="Plus Jakarta Sans"/>
              </a:rPr>
              <a:t>“Summarize everything I have access to about the ABC project and identify outstanding tasks.”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186237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845" y="2633662"/>
            <a:ext cx="1047630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Ready to transform your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67087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Start practicing these prompts today in your Microsoft 365 apps.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