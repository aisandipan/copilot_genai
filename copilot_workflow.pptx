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97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expectation: this is a workflow discipline guide, not a button-by-button tour.</a:t>
            </a:r>
          </a:p>
          <a:p>
            <a:r>
              <a:t>ENPS deployments are configured locally; map the principles to your newsroom’s fields, statuses and integrations.</a:t>
            </a:r>
          </a:p>
          <a:p>
            <a:r>
              <a:t>The outcome is one trusted, timed and air-ready rundown.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eight stages without diving into software steps.</a:t>
            </a:r>
          </a:p>
          <a:p>
            <a:r>
              <a:t>At each handoff, ask: who owns it, which version is authoritative, is it ready, and is its duration current?</a:t>
            </a:r>
          </a:p>
          <a:p>
            <a:r>
              <a:t>The final rundown is the result of those controls—not a last-minute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that speed begins with clarity at assignment, not with typing faster.</a:t>
            </a:r>
          </a:p>
          <a:p>
            <a:r>
              <a:t>Demonstrate the handoff test using a real assignment from the newsroom.</a:t>
            </a:r>
          </a:p>
          <a:p>
            <a:r>
              <a:t>If the angle, owner, deadline or deliverable is unclear, the record is not ready for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one example aloud to show why broadcast copy is different from print copy.</a:t>
            </a:r>
          </a:p>
          <a:p>
            <a:r>
              <a:t>Timing is editorial: a script that overruns displaces another story.</a:t>
            </a:r>
          </a:p>
          <a:p>
            <a:r>
              <a:t>Treat every media or pronunciation cue as an instruction another person must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left side to name the failure mode: parallel copies create invisible risk.</a:t>
            </a:r>
          </a:p>
          <a:p>
            <a:r>
              <a:t>The master story should hold the authoritative script, cues and approval state.</a:t>
            </a:r>
          </a:p>
          <a:p>
            <a:r>
              <a:t>Late changes are allowed, but they require an owner, a clear reason and a readiness recheck.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turn review into one giant approval event. Separate the decisions.</a:t>
            </a:r>
          </a:p>
          <a:p>
            <a:r>
              <a:t>The decision owner can delegate checks, but not accountability.</a:t>
            </a:r>
          </a:p>
          <a:p>
            <a:r>
              <a:t>A hold is productive when the reason, owner and next action are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ENPS may connect to production systems through newsroom-specific integrations, commonly including MOS-based workflows.</a:t>
            </a:r>
          </a:p>
          <a:p>
            <a:r>
              <a:t>A linked object is not automatically a verified object.</a:t>
            </a:r>
          </a:p>
          <a:p>
            <a:r>
              <a:t>The readiness state should change only after content, duration and technical playability are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example to show that the rundown is both editorial and operational.</a:t>
            </a:r>
          </a:p>
          <a:p>
            <a:r>
              <a:t>Order expresses priority; duration expresses the cost of that priority.</a:t>
            </a:r>
          </a:p>
          <a:p>
            <a:r>
              <a:t>A hold should name the blocker. The producer should not infer readiness from where an item sits in the rundown.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final minutes before air are for reconciliation, not quiet improvisation.</a:t>
            </a:r>
          </a:p>
          <a:p>
            <a:r>
              <a:t>Every exception should have a command, an owner and a visible timing consequence.</a:t>
            </a:r>
          </a:p>
          <a:p>
            <a:r>
              <a:t>After the show, reconcile the rundown so the record matches what actually 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the room which of the four controls is weakest today.</a:t>
            </a:r>
          </a:p>
          <a:p>
            <a:r>
              <a:t>Turn that answer into one operating change: a required field, a named gate, a readiness rule or a timing ritual.</a:t>
            </a:r>
          </a:p>
          <a:p>
            <a:r>
              <a:t>The workflow is successful when the rundown can be trusted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61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0CF9EEE-96EF-44CC-8427-BE13C74E7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C53397-A65F-44D1-A096-E08976EE4757}"/>
              </a:ext>
            </a:extLst>
          </p:cNvPr>
          <p:cNvSpPr>
            <a:spLocks noGrp="1"/>
          </p:cNvSpPr>
          <p:nvPr/>
        </p:nvSpPr>
        <p:spPr>
          <a:xfrm>
            <a:off x="209550" y="0"/>
            <a:ext cx="66675" cy="6858000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B741619-18FD-4776-AA4E-6C72EF06D105}"/>
              </a:ext>
            </a:extLst>
          </p:cNvPr>
          <p:cNvSpPr>
            <a:spLocks noGrp="1"/>
          </p:cNvSpPr>
          <p:nvPr/>
        </p:nvSpPr>
        <p:spPr>
          <a:xfrm>
            <a:off x="666750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9DDD17-DA66-4AEC-A2C8-3FC9CD73D63D}"/>
              </a:ext>
            </a:extLst>
          </p:cNvPr>
          <p:cNvSpPr>
            <a:spLocks noGrp="1"/>
          </p:cNvSpPr>
          <p:nvPr/>
        </p:nvSpPr>
        <p:spPr>
          <a:xfrm>
            <a:off x="748665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AE73E7B-19BF-482F-9DE3-172E3957B25E}"/>
              </a:ext>
            </a:extLst>
          </p:cNvPr>
          <p:cNvSpPr>
            <a:spLocks noGrp="1"/>
          </p:cNvSpPr>
          <p:nvPr/>
        </p:nvSpPr>
        <p:spPr>
          <a:xfrm>
            <a:off x="830580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F75CC63-DF28-4CF9-989A-367FAF70411E}"/>
              </a:ext>
            </a:extLst>
          </p:cNvPr>
          <p:cNvSpPr>
            <a:spLocks noGrp="1"/>
          </p:cNvSpPr>
          <p:nvPr/>
        </p:nvSpPr>
        <p:spPr>
          <a:xfrm>
            <a:off x="912495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A2D02A3-377B-46E0-8E94-5A1B81E8CAE5}"/>
              </a:ext>
            </a:extLst>
          </p:cNvPr>
          <p:cNvSpPr>
            <a:spLocks noGrp="1"/>
          </p:cNvSpPr>
          <p:nvPr/>
        </p:nvSpPr>
        <p:spPr>
          <a:xfrm>
            <a:off x="994410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01132EA-B10D-4AEE-96BF-75423E0F7F7B}"/>
              </a:ext>
            </a:extLst>
          </p:cNvPr>
          <p:cNvSpPr>
            <a:spLocks noGrp="1"/>
          </p:cNvSpPr>
          <p:nvPr/>
        </p:nvSpPr>
        <p:spPr>
          <a:xfrm>
            <a:off x="1076325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2C41D88-A034-4068-936E-7B10D6E76740}"/>
              </a:ext>
            </a:extLst>
          </p:cNvPr>
          <p:cNvSpPr>
            <a:spLocks noGrp="1"/>
          </p:cNvSpPr>
          <p:nvPr/>
        </p:nvSpPr>
        <p:spPr>
          <a:xfrm>
            <a:off x="11582400" y="762000"/>
            <a:ext cx="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6B17D2B-2C31-461E-B5AD-35AD37BF80D7}"/>
              </a:ext>
            </a:extLst>
          </p:cNvPr>
          <p:cNvSpPr>
            <a:spLocks noGrp="1"/>
          </p:cNvSpPr>
          <p:nvPr/>
        </p:nvSpPr>
        <p:spPr>
          <a:xfrm>
            <a:off x="6667500" y="8763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0C60CB7-DD0F-41BB-B04D-5F1492A0D023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F9FA89A-9EB7-4E9D-93C8-FA67F03AEA78}"/>
              </a:ext>
            </a:extLst>
          </p:cNvPr>
          <p:cNvSpPr>
            <a:spLocks noGrp="1"/>
          </p:cNvSpPr>
          <p:nvPr/>
        </p:nvSpPr>
        <p:spPr>
          <a:xfrm>
            <a:off x="6667500" y="23241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5986049-A82E-4688-87DF-2DA43D7155F3}"/>
              </a:ext>
            </a:extLst>
          </p:cNvPr>
          <p:cNvSpPr>
            <a:spLocks noGrp="1"/>
          </p:cNvSpPr>
          <p:nvPr/>
        </p:nvSpPr>
        <p:spPr>
          <a:xfrm>
            <a:off x="6667500" y="30480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4AA9F6E-2735-4B5E-8E83-CE55C0BEA75F}"/>
              </a:ext>
            </a:extLst>
          </p:cNvPr>
          <p:cNvSpPr>
            <a:spLocks noGrp="1"/>
          </p:cNvSpPr>
          <p:nvPr/>
        </p:nvSpPr>
        <p:spPr>
          <a:xfrm>
            <a:off x="6667500" y="37719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92CF8D-BE97-4049-8F8E-65ADCBB7F0D2}"/>
              </a:ext>
            </a:extLst>
          </p:cNvPr>
          <p:cNvSpPr>
            <a:spLocks noGrp="1"/>
          </p:cNvSpPr>
          <p:nvPr/>
        </p:nvSpPr>
        <p:spPr>
          <a:xfrm>
            <a:off x="6667500" y="44958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2D26C62-0F32-4945-BDBA-121FA2CADD93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4866687-6BD4-40C2-8552-665FCEC4C8B7}"/>
              </a:ext>
            </a:extLst>
          </p:cNvPr>
          <p:cNvSpPr>
            <a:spLocks noGrp="1"/>
          </p:cNvSpPr>
          <p:nvPr/>
        </p:nvSpPr>
        <p:spPr>
          <a:xfrm>
            <a:off x="6667500" y="5943600"/>
            <a:ext cx="49149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F34948B-41F5-4EC1-8894-27F3256598BA}"/>
              </a:ext>
            </a:extLst>
          </p:cNvPr>
          <p:cNvSpPr>
            <a:spLocks noGrp="1"/>
          </p:cNvSpPr>
          <p:nvPr/>
        </p:nvSpPr>
        <p:spPr>
          <a:xfrm>
            <a:off x="666750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8B4C138-154B-4154-A195-3CEA63315740}"/>
              </a:ext>
            </a:extLst>
          </p:cNvPr>
          <p:cNvSpPr>
            <a:spLocks noGrp="1"/>
          </p:cNvSpPr>
          <p:nvPr/>
        </p:nvSpPr>
        <p:spPr>
          <a:xfrm>
            <a:off x="748665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C5175B5-E28A-4156-BF04-4C30221CEF08}"/>
              </a:ext>
            </a:extLst>
          </p:cNvPr>
          <p:cNvSpPr>
            <a:spLocks noGrp="1"/>
          </p:cNvSpPr>
          <p:nvPr/>
        </p:nvSpPr>
        <p:spPr>
          <a:xfrm>
            <a:off x="830580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B2E4D9C-E61F-437E-95C0-51207A36D158}"/>
              </a:ext>
            </a:extLst>
          </p:cNvPr>
          <p:cNvSpPr>
            <a:spLocks noGrp="1"/>
          </p:cNvSpPr>
          <p:nvPr/>
        </p:nvSpPr>
        <p:spPr>
          <a:xfrm>
            <a:off x="912495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E9C8D49-9AA6-419B-AF3B-F477F47BF4C9}"/>
              </a:ext>
            </a:extLst>
          </p:cNvPr>
          <p:cNvSpPr>
            <a:spLocks noGrp="1"/>
          </p:cNvSpPr>
          <p:nvPr/>
        </p:nvSpPr>
        <p:spPr>
          <a:xfrm>
            <a:off x="994410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8FA6BFF-E905-4E0D-9AF1-CE0A9BF2851A}"/>
              </a:ext>
            </a:extLst>
          </p:cNvPr>
          <p:cNvSpPr>
            <a:spLocks noGrp="1"/>
          </p:cNvSpPr>
          <p:nvPr/>
        </p:nvSpPr>
        <p:spPr>
          <a:xfrm>
            <a:off x="1076325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B60C814-F739-411A-8DBC-5D94B8545C4D}"/>
              </a:ext>
            </a:extLst>
          </p:cNvPr>
          <p:cNvSpPr>
            <a:spLocks noGrp="1"/>
          </p:cNvSpPr>
          <p:nvPr/>
        </p:nvSpPr>
        <p:spPr>
          <a:xfrm>
            <a:off x="11582400" y="876300"/>
            <a:ext cx="0" cy="506730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C4AB43-DFD3-44E6-929C-A4BC503FCDC0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2DF938-0A9A-4F81-B224-C46A946809DA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685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4000"/>
              </a:lnSpc>
              <a:buNone/>
              <a:defRPr sz="5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NEWSROOM</a:t>
            </a:r>
          </a:p>
          <a:p>
            <a:pPr algn="l">
              <a:lnSpc>
                <a:spcPct val="84000"/>
              </a:lnSpc>
              <a:buNone/>
              <a:defRPr sz="5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WORKFLOW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FEAE68-4677-4C5C-98D6-6EC4675061F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524000" cy="95250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DC4290-D426-43AB-A6B2-52E736290C86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5334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0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From assignment and scripting</a:t>
            </a:r>
          </a:p>
          <a:p>
            <a:pPr algn="l">
              <a:lnSpc>
                <a:spcPct val="105000"/>
              </a:lnSpc>
              <a:buNone/>
              <a:defRPr sz="2250" b="0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to the final rundown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C8AF27-12D9-4847-A892-5C05F541E6D0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Practical training for editors &amp; producers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DDE460-6802-4002-A530-26F0DEC32221}"/>
              </a:ext>
            </a:extLst>
          </p:cNvPr>
          <p:cNvSpPr>
            <a:spLocks noGrp="1"/>
          </p:cNvSpPr>
          <p:nvPr/>
        </p:nvSpPr>
        <p:spPr>
          <a:xfrm>
            <a:off x="666750" y="55816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Current-practice guide • September 2026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7CABD5-D5AD-4509-813B-6245474F04AA}"/>
              </a:ext>
            </a:extLst>
          </p:cNvPr>
          <p:cNvSpPr>
            <a:spLocks noGrp="1"/>
          </p:cNvSpPr>
          <p:nvPr/>
        </p:nvSpPr>
        <p:spPr>
          <a:xfrm>
            <a:off x="8001000" y="24574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VERSION NOTE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691E8E-6F4B-4CBC-8219-DAA319572DF6}"/>
              </a:ext>
            </a:extLst>
          </p:cNvPr>
          <p:cNvSpPr>
            <a:spLocks noGrp="1"/>
          </p:cNvSpPr>
          <p:nvPr/>
        </p:nvSpPr>
        <p:spPr>
          <a:xfrm>
            <a:off x="8543925" y="2867025"/>
            <a:ext cx="1143000" cy="1143000"/>
          </a:xfrm>
          <a:prstGeom prst="ellipse">
            <a:avLst/>
          </a:prstGeom>
          <a:noFill/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C35CE9-1A5F-4748-8274-46BDEEE05918}"/>
              </a:ext>
            </a:extLst>
          </p:cNvPr>
          <p:cNvSpPr>
            <a:spLocks noGrp="1"/>
          </p:cNvSpPr>
          <p:nvPr/>
        </p:nvSpPr>
        <p:spPr>
          <a:xfrm>
            <a:off x="8620125" y="3171825"/>
            <a:ext cx="990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85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  <a:p>
            <a:pPr algn="ctr">
              <a:lnSpc>
                <a:spcPct val="85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3F1FF6-B2F2-4E03-A59A-421CEEF3070C}"/>
              </a:ext>
            </a:extLst>
          </p:cNvPr>
          <p:cNvSpPr>
            <a:spLocks noGrp="1"/>
          </p:cNvSpPr>
          <p:nvPr/>
        </p:nvSpPr>
        <p:spPr>
          <a:xfrm>
            <a:off x="7334250" y="4305300"/>
            <a:ext cx="3619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ENPS labels and enabled integrations vary by deployment. Confirm local SOP and build.</a:t>
            </a:r>
          </a:p>
        </p:txBody>
      </p:sp>
    </p:spTree>
    <p:extLst>
      <p:ext uri="{BB962C8B-B14F-4D97-AF65-F5344CB8AC3E}">
        <p14:creationId xmlns:p14="http://schemas.microsoft.com/office/powerpoint/2010/main" val="18407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753EC6F6-521D-46B5-9D47-E266AECAB37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8E45B8-C80A-4E2A-B0F2-144FB2ECCD5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One workflow creates one air-ready source of truth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2FC667F-3015-4F2E-A731-2D0F2CD34D4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CAE40-0455-47F0-9F58-F0C2CF0C6428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F93D68-6D02-4A18-8E00-75CE8B9ED2D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Every stage leaves a visible owner, a clear status and a usable handoff.</a:t>
            </a:r>
          </a:p>
        </p:txBody>
      </p:sp>
      <p:sp>
        <p:nvSpPr>
          <p:cNvPr id="6" name="flow-1">
            <a:extLst>
              <a:ext uri="{FF2B5EF4-FFF2-40B4-BE49-F238E27FC236}">
                <a16:creationId xmlns:a16="http://schemas.microsoft.com/office/drawing/2014/main" id="{69E97A2F-FB48-486D-AF86-9D48C7757514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38150" cy="438150"/>
          </a:xfrm>
          <a:prstGeom prst="ellipse">
            <a:avLst/>
          </a:prstGeom>
          <a:solidFill>
            <a:srgbClr val="DCE8FF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7B81F-C204-471D-872D-574212175C44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52677-6592-4D2D-9C38-C6BF761A0CC1}"/>
              </a:ext>
            </a:extLst>
          </p:cNvPr>
          <p:cNvSpPr>
            <a:spLocks noGrp="1"/>
          </p:cNvSpPr>
          <p:nvPr/>
        </p:nvSpPr>
        <p:spPr>
          <a:xfrm>
            <a:off x="381000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1BB4BA-65E2-4441-9B7F-138A6BE6CF58}"/>
              </a:ext>
            </a:extLst>
          </p:cNvPr>
          <p:cNvSpPr>
            <a:spLocks noGrp="1"/>
          </p:cNvSpPr>
          <p:nvPr/>
        </p:nvSpPr>
        <p:spPr>
          <a:xfrm>
            <a:off x="381000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0" name="flow-2">
            <a:extLst>
              <a:ext uri="{FF2B5EF4-FFF2-40B4-BE49-F238E27FC236}">
                <a16:creationId xmlns:a16="http://schemas.microsoft.com/office/drawing/2014/main" id="{5EDB50E1-0837-46C2-A261-9AE1E971806B}"/>
              </a:ext>
            </a:extLst>
          </p:cNvPr>
          <p:cNvSpPr>
            <a:spLocks noGrp="1"/>
          </p:cNvSpPr>
          <p:nvPr/>
        </p:nvSpPr>
        <p:spPr>
          <a:xfrm>
            <a:off x="2028825" y="2686050"/>
            <a:ext cx="438150" cy="438150"/>
          </a:xfrm>
          <a:prstGeom prst="ellipse">
            <a:avLst/>
          </a:prstGeom>
          <a:solidFill>
            <a:srgbClr val="DCE8FF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547F98-23C1-44FE-B949-39BD98B25CC6}"/>
              </a:ext>
            </a:extLst>
          </p:cNvPr>
          <p:cNvSpPr>
            <a:spLocks noGrp="1"/>
          </p:cNvSpPr>
          <p:nvPr/>
        </p:nvSpPr>
        <p:spPr>
          <a:xfrm>
            <a:off x="2028825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9E10F-B66C-4B78-B542-75C50A2A4486}"/>
              </a:ext>
            </a:extLst>
          </p:cNvPr>
          <p:cNvSpPr>
            <a:spLocks noGrp="1"/>
          </p:cNvSpPr>
          <p:nvPr/>
        </p:nvSpPr>
        <p:spPr>
          <a:xfrm>
            <a:off x="1743075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ASSIGN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6E5434-2292-42B2-B7B6-0A94790A6254}"/>
              </a:ext>
            </a:extLst>
          </p:cNvPr>
          <p:cNvSpPr>
            <a:spLocks noGrp="1"/>
          </p:cNvSpPr>
          <p:nvPr/>
        </p:nvSpPr>
        <p:spPr>
          <a:xfrm>
            <a:off x="1743075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Own</a:t>
            </a:r>
          </a:p>
        </p:txBody>
      </p:sp>
      <p:sp>
        <p:nvSpPr>
          <p:cNvPr id="14" name="flow-3">
            <a:extLst>
              <a:ext uri="{FF2B5EF4-FFF2-40B4-BE49-F238E27FC236}">
                <a16:creationId xmlns:a16="http://schemas.microsoft.com/office/drawing/2014/main" id="{CBEBBD09-CFBD-4CDD-9EBF-4C7D19711EBC}"/>
              </a:ext>
            </a:extLst>
          </p:cNvPr>
          <p:cNvSpPr>
            <a:spLocks noGrp="1"/>
          </p:cNvSpPr>
          <p:nvPr/>
        </p:nvSpPr>
        <p:spPr>
          <a:xfrm>
            <a:off x="3390900" y="2686050"/>
            <a:ext cx="438150" cy="438150"/>
          </a:xfrm>
          <a:prstGeom prst="ellipse">
            <a:avLst/>
          </a:prstGeom>
          <a:solidFill>
            <a:srgbClr val="1358D0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FEEDA-E943-49F5-975C-A34C06896B8E}"/>
              </a:ext>
            </a:extLst>
          </p:cNvPr>
          <p:cNvSpPr>
            <a:spLocks noGrp="1"/>
          </p:cNvSpPr>
          <p:nvPr/>
        </p:nvSpPr>
        <p:spPr>
          <a:xfrm>
            <a:off x="3390900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8913AD-48EC-47F9-BF0E-FFC55BCC3FD6}"/>
              </a:ext>
            </a:extLst>
          </p:cNvPr>
          <p:cNvSpPr>
            <a:spLocks noGrp="1"/>
          </p:cNvSpPr>
          <p:nvPr/>
        </p:nvSpPr>
        <p:spPr>
          <a:xfrm>
            <a:off x="3105150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FEEABB-7824-4460-B6C7-25D7E2E113F4}"/>
              </a:ext>
            </a:extLst>
          </p:cNvPr>
          <p:cNvSpPr>
            <a:spLocks noGrp="1"/>
          </p:cNvSpPr>
          <p:nvPr/>
        </p:nvSpPr>
        <p:spPr>
          <a:xfrm>
            <a:off x="3105150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Write</a:t>
            </a:r>
          </a:p>
        </p:txBody>
      </p:sp>
      <p:sp>
        <p:nvSpPr>
          <p:cNvPr id="18" name="flow-4">
            <a:extLst>
              <a:ext uri="{FF2B5EF4-FFF2-40B4-BE49-F238E27FC236}">
                <a16:creationId xmlns:a16="http://schemas.microsoft.com/office/drawing/2014/main" id="{EAE0D7D7-77F9-44A3-A3FA-A249BD9D0C87}"/>
              </a:ext>
            </a:extLst>
          </p:cNvPr>
          <p:cNvSpPr>
            <a:spLocks noGrp="1"/>
          </p:cNvSpPr>
          <p:nvPr/>
        </p:nvSpPr>
        <p:spPr>
          <a:xfrm>
            <a:off x="4752975" y="2686050"/>
            <a:ext cx="438150" cy="438150"/>
          </a:xfrm>
          <a:prstGeom prst="ellipse">
            <a:avLst/>
          </a:prstGeom>
          <a:solidFill>
            <a:srgbClr val="1358D0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B66C4B-B392-49BE-A743-21CBBCE055F7}"/>
              </a:ext>
            </a:extLst>
          </p:cNvPr>
          <p:cNvSpPr>
            <a:spLocks noGrp="1"/>
          </p:cNvSpPr>
          <p:nvPr/>
        </p:nvSpPr>
        <p:spPr>
          <a:xfrm>
            <a:off x="4752975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1466EA-094C-4F09-8B93-0583EBB33368}"/>
              </a:ext>
            </a:extLst>
          </p:cNvPr>
          <p:cNvSpPr>
            <a:spLocks noGrp="1"/>
          </p:cNvSpPr>
          <p:nvPr/>
        </p:nvSpPr>
        <p:spPr>
          <a:xfrm>
            <a:off x="4467225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74080F-B026-4C06-B336-E3794809EF73}"/>
              </a:ext>
            </a:extLst>
          </p:cNvPr>
          <p:cNvSpPr>
            <a:spLocks noGrp="1"/>
          </p:cNvSpPr>
          <p:nvPr/>
        </p:nvSpPr>
        <p:spPr>
          <a:xfrm>
            <a:off x="4467225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flow-5">
            <a:extLst>
              <a:ext uri="{FF2B5EF4-FFF2-40B4-BE49-F238E27FC236}">
                <a16:creationId xmlns:a16="http://schemas.microsoft.com/office/drawing/2014/main" id="{9B44B82D-7348-420B-B9FD-8913DEFC2CD8}"/>
              </a:ext>
            </a:extLst>
          </p:cNvPr>
          <p:cNvSpPr>
            <a:spLocks noGrp="1"/>
          </p:cNvSpPr>
          <p:nvPr/>
        </p:nvSpPr>
        <p:spPr>
          <a:xfrm>
            <a:off x="6115050" y="2686050"/>
            <a:ext cx="438150" cy="438150"/>
          </a:xfrm>
          <a:prstGeom prst="ellipse">
            <a:avLst/>
          </a:prstGeom>
          <a:solidFill>
            <a:srgbClr val="1358D0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DDE89A-D942-4B97-A707-1EFEEBE11A3A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EFEE61-B74E-407E-BE61-BC41A147B65C}"/>
              </a:ext>
            </a:extLst>
          </p:cNvPr>
          <p:cNvSpPr>
            <a:spLocks noGrp="1"/>
          </p:cNvSpPr>
          <p:nvPr/>
        </p:nvSpPr>
        <p:spPr>
          <a:xfrm>
            <a:off x="5829300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D4EDA-6820-4D95-AE2E-E7F9BC6A93C7}"/>
              </a:ext>
            </a:extLst>
          </p:cNvPr>
          <p:cNvSpPr>
            <a:spLocks noGrp="1"/>
          </p:cNvSpPr>
          <p:nvPr/>
        </p:nvSpPr>
        <p:spPr>
          <a:xfrm>
            <a:off x="5829300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Link</a:t>
            </a:r>
          </a:p>
        </p:txBody>
      </p:sp>
      <p:sp>
        <p:nvSpPr>
          <p:cNvPr id="26" name="flow-6">
            <a:extLst>
              <a:ext uri="{FF2B5EF4-FFF2-40B4-BE49-F238E27FC236}">
                <a16:creationId xmlns:a16="http://schemas.microsoft.com/office/drawing/2014/main" id="{2F92A539-0434-4A00-BDC5-A6F93C75D242}"/>
              </a:ext>
            </a:extLst>
          </p:cNvPr>
          <p:cNvSpPr>
            <a:spLocks noGrp="1"/>
          </p:cNvSpPr>
          <p:nvPr/>
        </p:nvSpPr>
        <p:spPr>
          <a:xfrm>
            <a:off x="7477125" y="2686050"/>
            <a:ext cx="438150" cy="438150"/>
          </a:xfrm>
          <a:prstGeom prst="ellipse">
            <a:avLst/>
          </a:prstGeom>
          <a:solidFill>
            <a:srgbClr val="1358D0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4F854-353B-4F12-B494-3A0300D5DDA3}"/>
              </a:ext>
            </a:extLst>
          </p:cNvPr>
          <p:cNvSpPr>
            <a:spLocks noGrp="1"/>
          </p:cNvSpPr>
          <p:nvPr/>
        </p:nvSpPr>
        <p:spPr>
          <a:xfrm>
            <a:off x="7477125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4F03FE-E439-4E0F-9820-21031F636E12}"/>
              </a:ext>
            </a:extLst>
          </p:cNvPr>
          <p:cNvSpPr>
            <a:spLocks noGrp="1"/>
          </p:cNvSpPr>
          <p:nvPr/>
        </p:nvSpPr>
        <p:spPr>
          <a:xfrm>
            <a:off x="7191375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34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RUNDOWN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E9B872-E028-45E6-A42F-EC7744155001}"/>
              </a:ext>
            </a:extLst>
          </p:cNvPr>
          <p:cNvSpPr>
            <a:spLocks noGrp="1"/>
          </p:cNvSpPr>
          <p:nvPr/>
        </p:nvSpPr>
        <p:spPr>
          <a:xfrm>
            <a:off x="7191375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30" name="flow-7">
            <a:extLst>
              <a:ext uri="{FF2B5EF4-FFF2-40B4-BE49-F238E27FC236}">
                <a16:creationId xmlns:a16="http://schemas.microsoft.com/office/drawing/2014/main" id="{87EC1648-3D30-4ABA-9716-BFACC771522F}"/>
              </a:ext>
            </a:extLst>
          </p:cNvPr>
          <p:cNvSpPr>
            <a:spLocks noGrp="1"/>
          </p:cNvSpPr>
          <p:nvPr/>
        </p:nvSpPr>
        <p:spPr>
          <a:xfrm>
            <a:off x="8839200" y="2686050"/>
            <a:ext cx="438150" cy="438150"/>
          </a:xfrm>
          <a:prstGeom prst="ellipse">
            <a:avLst/>
          </a:prstGeom>
          <a:solidFill>
            <a:srgbClr val="1358D0"/>
          </a:solidFill>
          <a:ln w="9525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788759-8A1F-4A41-BD27-61B53D697508}"/>
              </a:ext>
            </a:extLst>
          </p:cNvPr>
          <p:cNvSpPr>
            <a:spLocks noGrp="1"/>
          </p:cNvSpPr>
          <p:nvPr/>
        </p:nvSpPr>
        <p:spPr>
          <a:xfrm>
            <a:off x="8839200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ECC478-648F-4E14-A375-2F20D4D6EBE2}"/>
              </a:ext>
            </a:extLst>
          </p:cNvPr>
          <p:cNvSpPr>
            <a:spLocks noGrp="1"/>
          </p:cNvSpPr>
          <p:nvPr/>
        </p:nvSpPr>
        <p:spPr>
          <a:xfrm>
            <a:off x="8553450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430905-A09F-42B6-AF46-C60C77F65055}"/>
              </a:ext>
            </a:extLst>
          </p:cNvPr>
          <p:cNvSpPr>
            <a:spLocks noGrp="1"/>
          </p:cNvSpPr>
          <p:nvPr/>
        </p:nvSpPr>
        <p:spPr>
          <a:xfrm>
            <a:off x="8553450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4" name="flow-8">
            <a:extLst>
              <a:ext uri="{FF2B5EF4-FFF2-40B4-BE49-F238E27FC236}">
                <a16:creationId xmlns:a16="http://schemas.microsoft.com/office/drawing/2014/main" id="{76960934-BF59-414C-A830-2CC4A005E409}"/>
              </a:ext>
            </a:extLst>
          </p:cNvPr>
          <p:cNvSpPr>
            <a:spLocks noGrp="1"/>
          </p:cNvSpPr>
          <p:nvPr/>
        </p:nvSpPr>
        <p:spPr>
          <a:xfrm>
            <a:off x="10201275" y="2686050"/>
            <a:ext cx="438150" cy="4381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6ED2CA-8EFE-4F21-80F0-0C3FFB7F5A4D}"/>
              </a:ext>
            </a:extLst>
          </p:cNvPr>
          <p:cNvSpPr>
            <a:spLocks noGrp="1"/>
          </p:cNvSpPr>
          <p:nvPr/>
        </p:nvSpPr>
        <p:spPr>
          <a:xfrm>
            <a:off x="10201275" y="27813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5FAA20-71AD-4CB0-876E-BE1AA99C0304}"/>
              </a:ext>
            </a:extLst>
          </p:cNvPr>
          <p:cNvSpPr>
            <a:spLocks noGrp="1"/>
          </p:cNvSpPr>
          <p:nvPr/>
        </p:nvSpPr>
        <p:spPr>
          <a:xfrm>
            <a:off x="9915525" y="3295650"/>
            <a:ext cx="1009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7A3A55-AB8F-43ED-B52B-7F5D9CA7F881}"/>
              </a:ext>
            </a:extLst>
          </p:cNvPr>
          <p:cNvSpPr>
            <a:spLocks noGrp="1"/>
          </p:cNvSpPr>
          <p:nvPr/>
        </p:nvSpPr>
        <p:spPr>
          <a:xfrm>
            <a:off x="9915525" y="35623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cxnSp>
        <p:nvCxnSpPr>
          <p:cNvPr id="38" name="Straight Arrow Connector 37"/>
          <p:cNvCxnSpPr>
            <a:stCxn id="6" idx="6"/>
            <a:endCxn id="10" idx="2"/>
          </p:cNvCxnSpPr>
          <p:nvPr/>
        </p:nvCxnSpPr>
        <p:spPr>
          <a:xfrm>
            <a:off x="1104900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10" idx="6"/>
            <a:endCxn id="14" idx="2"/>
          </p:cNvCxnSpPr>
          <p:nvPr/>
        </p:nvCxnSpPr>
        <p:spPr>
          <a:xfrm>
            <a:off x="2466975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40" name="Straight Arrow Connector 39"/>
          <p:cNvCxnSpPr>
            <a:stCxn id="14" idx="6"/>
            <a:endCxn id="18" idx="2"/>
          </p:cNvCxnSpPr>
          <p:nvPr/>
        </p:nvCxnSpPr>
        <p:spPr>
          <a:xfrm>
            <a:off x="3829050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41" name="Straight Arrow Connector 40"/>
          <p:cNvCxnSpPr>
            <a:stCxn id="18" idx="6"/>
            <a:endCxn id="22" idx="2"/>
          </p:cNvCxnSpPr>
          <p:nvPr/>
        </p:nvCxnSpPr>
        <p:spPr>
          <a:xfrm>
            <a:off x="5191125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42" name="Straight Arrow Connector 41"/>
          <p:cNvCxnSpPr>
            <a:stCxn id="22" idx="6"/>
            <a:endCxn id="26" idx="2"/>
          </p:cNvCxnSpPr>
          <p:nvPr/>
        </p:nvCxnSpPr>
        <p:spPr>
          <a:xfrm>
            <a:off x="6553200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26" idx="6"/>
            <a:endCxn id="30" idx="2"/>
          </p:cNvCxnSpPr>
          <p:nvPr/>
        </p:nvCxnSpPr>
        <p:spPr>
          <a:xfrm>
            <a:off x="7915275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30" idx="6"/>
            <a:endCxn id="34" idx="2"/>
          </p:cNvCxnSpPr>
          <p:nvPr/>
        </p:nvCxnSpPr>
        <p:spPr>
          <a:xfrm>
            <a:off x="9277350" y="2905125"/>
            <a:ext cx="923925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EEDEAC20-EB75-4CC2-A4B4-7243DA0096FB}"/>
              </a:ext>
            </a:extLst>
          </p:cNvPr>
          <p:cNvSpPr>
            <a:spLocks noGrp="1"/>
          </p:cNvSpPr>
          <p:nvPr/>
        </p:nvSpPr>
        <p:spPr>
          <a:xfrm>
            <a:off x="904875" y="4286250"/>
            <a:ext cx="101917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992823-FDDD-4EF9-9497-08D3382382B0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CONTROL POINTS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DEDA19-26B9-4FFC-9982-2DB3270FABEE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5266E3-8F92-44F2-8450-01494A263EF3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person is accountable for the next decision.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7E49C501-0CBA-4534-ADCE-06CAAA306023}"/>
              </a:ext>
            </a:extLst>
          </p:cNvPr>
          <p:cNvSpPr>
            <a:spLocks noGrp="1"/>
          </p:cNvSpPr>
          <p:nvPr/>
        </p:nvSpPr>
        <p:spPr>
          <a:xfrm>
            <a:off x="3228975" y="4857750"/>
            <a:ext cx="0" cy="10096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9EE3E5-BC41-40EF-ADEB-E1D3AC61D903}"/>
              </a:ext>
            </a:extLst>
          </p:cNvPr>
          <p:cNvSpPr>
            <a:spLocks noGrp="1"/>
          </p:cNvSpPr>
          <p:nvPr/>
        </p:nvSpPr>
        <p:spPr>
          <a:xfrm>
            <a:off x="3381375" y="4914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6CDCAAB-928E-4C38-94D6-8A0E9F710FC5}"/>
              </a:ext>
            </a:extLst>
          </p:cNvPr>
          <p:cNvSpPr>
            <a:spLocks noGrp="1"/>
          </p:cNvSpPr>
          <p:nvPr/>
        </p:nvSpPr>
        <p:spPr>
          <a:xfrm>
            <a:off x="3381375" y="5200650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13"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master story—not side copies—drives production.</a:t>
            </a:r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5E748001-AC0C-4886-91DB-F591CAD2AFB9}"/>
              </a:ext>
            </a:extLst>
          </p:cNvPr>
          <p:cNvSpPr>
            <a:spLocks noGrp="1"/>
          </p:cNvSpPr>
          <p:nvPr/>
        </p:nvSpPr>
        <p:spPr>
          <a:xfrm>
            <a:off x="6000750" y="4857750"/>
            <a:ext cx="0" cy="10096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971A82-3D94-40FD-8A6A-D689DACE1031}"/>
              </a:ext>
            </a:extLst>
          </p:cNvPr>
          <p:cNvSpPr>
            <a:spLocks noGrp="1"/>
          </p:cNvSpPr>
          <p:nvPr/>
        </p:nvSpPr>
        <p:spPr>
          <a:xfrm>
            <a:off x="6153150" y="4914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4280239-E281-45B2-9AFF-2F02AC3134ED}"/>
              </a:ext>
            </a:extLst>
          </p:cNvPr>
          <p:cNvSpPr>
            <a:spLocks noGrp="1"/>
          </p:cNvSpPr>
          <p:nvPr/>
        </p:nvSpPr>
        <p:spPr>
          <a:xfrm>
            <a:off x="6153150" y="5200650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Statuses describe what is truly usable now.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08C929F1-1925-4BEE-8B8E-F494DF9957EE}"/>
              </a:ext>
            </a:extLst>
          </p:cNvPr>
          <p:cNvSpPr>
            <a:spLocks noGrp="1"/>
          </p:cNvSpPr>
          <p:nvPr/>
        </p:nvSpPr>
        <p:spPr>
          <a:xfrm>
            <a:off x="8772525" y="4857750"/>
            <a:ext cx="0" cy="10096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8F3D0B6-40F7-480A-9BFE-64356911C146}"/>
              </a:ext>
            </a:extLst>
          </p:cNvPr>
          <p:cNvSpPr>
            <a:spLocks noGrp="1"/>
          </p:cNvSpPr>
          <p:nvPr/>
        </p:nvSpPr>
        <p:spPr>
          <a:xfrm>
            <a:off x="8924925" y="4914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79D123-D9C5-4AD0-9A15-000ACB064D33}"/>
              </a:ext>
            </a:extLst>
          </p:cNvPr>
          <p:cNvSpPr>
            <a:spLocks noGrp="1"/>
          </p:cNvSpPr>
          <p:nvPr/>
        </p:nvSpPr>
        <p:spPr>
          <a:xfrm>
            <a:off x="8924925" y="5200650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66"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Durations and backtime stay current as the show changes.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A87952-1C8D-4E32-99B0-FC90F480117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Associated Press public ENPS product information; workflow labels vary by deployment.</a:t>
            </a:r>
          </a:p>
        </p:txBody>
      </p:sp>
    </p:spTree>
    <p:extLst>
      <p:ext uri="{BB962C8B-B14F-4D97-AF65-F5344CB8AC3E}">
        <p14:creationId xmlns:p14="http://schemas.microsoft.com/office/powerpoint/2010/main" val="2016047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ECA3E0A-FE26-4236-8291-08D0359B091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F3A217-D64D-422A-B4ED-192E4860713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A clean assignment prevents rework before writing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294B63C-AE84-490F-9D4F-DC37FFFC247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B92EE-9948-4721-AA68-FFE95EE22FF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A19B4-5B3E-4646-9062-C8B06514DED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52"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Create the story record before the script: the assignment is the newsroom contract.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0D28FD-B4C4-4205-9902-6484102F1851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3810000" cy="28575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13FE2-7086-49A1-889A-E2355513F1C1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365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MINIMUM ASSIGNMENT RECORD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0CB44-6BC9-4D0F-83D9-57985A74EAC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SLUG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6209C4D-CF85-45CF-9226-465BA4935E9F}"/>
              </a:ext>
            </a:extLst>
          </p:cNvPr>
          <p:cNvSpPr>
            <a:spLocks noGrp="1"/>
          </p:cNvSpPr>
          <p:nvPr/>
        </p:nvSpPr>
        <p:spPr>
          <a:xfrm>
            <a:off x="1981200" y="27908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EF1CB-30B8-4727-88F8-8EB66DCF4322}"/>
              </a:ext>
            </a:extLst>
          </p:cNvPr>
          <p:cNvSpPr>
            <a:spLocks noGrp="1"/>
          </p:cNvSpPr>
          <p:nvPr/>
        </p:nvSpPr>
        <p:spPr>
          <a:xfrm>
            <a:off x="2095500" y="25622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Short, unique, searchable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7DB43-8E10-477C-89E4-135EAAE55F4C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ANGLE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0CE0575-A604-4FB6-9478-F174DE5B3F42}"/>
              </a:ext>
            </a:extLst>
          </p:cNvPr>
          <p:cNvSpPr>
            <a:spLocks noGrp="1"/>
          </p:cNvSpPr>
          <p:nvPr/>
        </p:nvSpPr>
        <p:spPr>
          <a:xfrm>
            <a:off x="1981200" y="32861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A560F3-6541-43C0-9ED2-6C3748B91386}"/>
              </a:ext>
            </a:extLst>
          </p:cNvPr>
          <p:cNvSpPr>
            <a:spLocks noGrp="1"/>
          </p:cNvSpPr>
          <p:nvPr/>
        </p:nvSpPr>
        <p:spPr>
          <a:xfrm>
            <a:off x="2095500" y="30575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The editorial promise in one sentence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782DC-BB6A-4775-9380-D55E0A2938BB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0F9F028-C277-484E-9B59-25FB61250E38}"/>
              </a:ext>
            </a:extLst>
          </p:cNvPr>
          <p:cNvSpPr>
            <a:spLocks noGrp="1"/>
          </p:cNvSpPr>
          <p:nvPr/>
        </p:nvSpPr>
        <p:spPr>
          <a:xfrm>
            <a:off x="1981200" y="37814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CB921-76C4-4C1B-88B3-FF931FA3613C}"/>
              </a:ext>
            </a:extLst>
          </p:cNvPr>
          <p:cNvSpPr>
            <a:spLocks noGrp="1"/>
          </p:cNvSpPr>
          <p:nvPr/>
        </p:nvSpPr>
        <p:spPr>
          <a:xfrm>
            <a:off x="2095500" y="35528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Writer plus assigning editor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A1E68E-1382-4E75-BAD0-902005786D74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DEADLINE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1C191CA-C848-40C4-9939-FAF88552EA0F}"/>
              </a:ext>
            </a:extLst>
          </p:cNvPr>
          <p:cNvSpPr>
            <a:spLocks noGrp="1"/>
          </p:cNvSpPr>
          <p:nvPr/>
        </p:nvSpPr>
        <p:spPr>
          <a:xfrm>
            <a:off x="1981200" y="42767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4D52D-F722-4E17-849F-4948B4810DC1}"/>
              </a:ext>
            </a:extLst>
          </p:cNvPr>
          <p:cNvSpPr>
            <a:spLocks noGrp="1"/>
          </p:cNvSpPr>
          <p:nvPr/>
        </p:nvSpPr>
        <p:spPr>
          <a:xfrm>
            <a:off x="2095500" y="40481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First draft and air/publish target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75319D-90DF-4720-8FB9-A09A9C82BDF1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10B1602-DCE6-4729-ADE0-83619D1863CB}"/>
              </a:ext>
            </a:extLst>
          </p:cNvPr>
          <p:cNvSpPr>
            <a:spLocks noGrp="1"/>
          </p:cNvSpPr>
          <p:nvPr/>
        </p:nvSpPr>
        <p:spPr>
          <a:xfrm>
            <a:off x="1981200" y="47720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A92972-FEE7-40B8-A503-7AC642253828}"/>
              </a:ext>
            </a:extLst>
          </p:cNvPr>
          <p:cNvSpPr>
            <a:spLocks noGrp="1"/>
          </p:cNvSpPr>
          <p:nvPr/>
        </p:nvSpPr>
        <p:spPr>
          <a:xfrm>
            <a:off x="2095500" y="45434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Primary evidence, contacts and restrictions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C877FC-3217-4F5D-B1F2-508473B689EC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518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5AAD7C4-4764-4395-8C47-A7B4236FA4BC}"/>
              </a:ext>
            </a:extLst>
          </p:cNvPr>
          <p:cNvSpPr>
            <a:spLocks noGrp="1"/>
          </p:cNvSpPr>
          <p:nvPr/>
        </p:nvSpPr>
        <p:spPr>
          <a:xfrm>
            <a:off x="1981200" y="5267325"/>
            <a:ext cx="4743450" cy="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7335FC-BA77-47C9-AFDF-290217D89F12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442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VO/SOT/live/graphic/digital variants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C65AE92C-D493-4594-A425-1A64A56C3426}"/>
              </a:ext>
            </a:extLst>
          </p:cNvPr>
          <p:cNvSpPr>
            <a:spLocks noGrp="1"/>
          </p:cNvSpPr>
          <p:nvPr/>
        </p:nvSpPr>
        <p:spPr>
          <a:xfrm>
            <a:off x="7086600" y="2114550"/>
            <a:ext cx="0" cy="3381375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A934F7-1EAB-483B-98CF-7F51C82211E0}"/>
              </a:ext>
            </a:extLst>
          </p:cNvPr>
          <p:cNvSpPr>
            <a:spLocks noGrp="1"/>
          </p:cNvSpPr>
          <p:nvPr/>
        </p:nvSpPr>
        <p:spPr>
          <a:xfrm>
            <a:off x="7524750" y="2152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THE HANDOFF TEST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51339B-CB6C-46E6-9828-B3D7F078E83B}"/>
              </a:ext>
            </a:extLst>
          </p:cNvPr>
          <p:cNvSpPr>
            <a:spLocks noGrp="1"/>
          </p:cNvSpPr>
          <p:nvPr/>
        </p:nvSpPr>
        <p:spPr>
          <a:xfrm>
            <a:off x="7524750" y="2590800"/>
            <a:ext cx="352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02" lnSpcReduction="10000"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Can the next person act without asking what you meant?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08FADA-C42C-4102-8B24-878C9FB93432}"/>
              </a:ext>
            </a:extLst>
          </p:cNvPr>
          <p:cNvSpPr>
            <a:spLocks noGrp="1"/>
          </p:cNvSpPr>
          <p:nvPr/>
        </p:nvSpPr>
        <p:spPr>
          <a:xfrm>
            <a:off x="7524750" y="3600450"/>
            <a:ext cx="66675" cy="66675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A15A66-32B7-4240-8C20-9FD5ABD6E3C3}"/>
              </a:ext>
            </a:extLst>
          </p:cNvPr>
          <p:cNvSpPr>
            <a:spLocks noGrp="1"/>
          </p:cNvSpPr>
          <p:nvPr/>
        </p:nvSpPr>
        <p:spPr>
          <a:xfrm>
            <a:off x="7715250" y="35242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Angle is explicit—not just a topic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D83D0E-048C-4750-A903-CF5AA9FE2E5B}"/>
              </a:ext>
            </a:extLst>
          </p:cNvPr>
          <p:cNvSpPr>
            <a:spLocks noGrp="1"/>
          </p:cNvSpPr>
          <p:nvPr/>
        </p:nvSpPr>
        <p:spPr>
          <a:xfrm>
            <a:off x="7524750" y="4010025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2DB106-128D-4216-8309-0DBDE61AB4EC}"/>
              </a:ext>
            </a:extLst>
          </p:cNvPr>
          <p:cNvSpPr>
            <a:spLocks noGrp="1"/>
          </p:cNvSpPr>
          <p:nvPr/>
        </p:nvSpPr>
        <p:spPr>
          <a:xfrm>
            <a:off x="7715250" y="3933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913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Rights, embargoes and sensitivities are visible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D01F96-1B65-4298-95D0-B1E9AC18BD3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D1D0F8-1238-4C6C-B776-9CA678FEE84A}"/>
              </a:ext>
            </a:extLst>
          </p:cNvPr>
          <p:cNvSpPr>
            <a:spLocks noGrp="1"/>
          </p:cNvSpPr>
          <p:nvPr/>
        </p:nvSpPr>
        <p:spPr>
          <a:xfrm>
            <a:off x="7715250" y="43434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60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Dependencies have an owner and due time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CF725-E2BE-4F3A-B8B7-8DBABABB1D22}"/>
              </a:ext>
            </a:extLst>
          </p:cNvPr>
          <p:cNvSpPr>
            <a:spLocks noGrp="1"/>
          </p:cNvSpPr>
          <p:nvPr/>
        </p:nvSpPr>
        <p:spPr>
          <a:xfrm>
            <a:off x="7524750" y="4829175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432BB9-0CEA-4D80-AD1F-85E2CC171D10}"/>
              </a:ext>
            </a:extLst>
          </p:cNvPr>
          <p:cNvSpPr>
            <a:spLocks noGrp="1"/>
          </p:cNvSpPr>
          <p:nvPr/>
        </p:nvSpPr>
        <p:spPr>
          <a:xfrm>
            <a:off x="7715250" y="47529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97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Expected output format is unambiguous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3F7D09-150E-4766-B8AF-E2397B40A0C5}"/>
              </a:ext>
            </a:extLst>
          </p:cNvPr>
          <p:cNvSpPr>
            <a:spLocks noGrp="1"/>
          </p:cNvSpPr>
          <p:nvPr/>
        </p:nvSpPr>
        <p:spPr>
          <a:xfrm>
            <a:off x="7524750" y="523875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979B80-DCCC-4292-83E5-5B7270D00577}"/>
              </a:ext>
            </a:extLst>
          </p:cNvPr>
          <p:cNvSpPr>
            <a:spLocks noGrp="1"/>
          </p:cNvSpPr>
          <p:nvPr/>
        </p:nvSpPr>
        <p:spPr>
          <a:xfrm>
            <a:off x="7715250" y="5162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92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Missing facts are listed as open questions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E77846-5AEB-4556-BE5D-107AE784372C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3524250" cy="76200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776190-F38B-4FF4-801B-8ADE05B21CF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guide — adapt fields, status names and approvals to local newsroom SOP</a:t>
            </a:r>
          </a:p>
        </p:txBody>
      </p:sp>
    </p:spTree>
    <p:extLst>
      <p:ext uri="{BB962C8B-B14F-4D97-AF65-F5344CB8AC3E}">
        <p14:creationId xmlns:p14="http://schemas.microsoft.com/office/powerpoint/2010/main" val="87833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49F5B6B-9DB2-40FB-AC8B-3968551F0BF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2EB16-491A-4F63-851F-40BF5B8DD4A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Write for the ear—and engineer every script for time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FCEEEE0-9F12-4313-8486-B701B6529A5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214C1-5421-40B5-AFD5-A7AB48F6E6EE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27C0F-8387-4435-A663-E31161BA93D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script must be speakable, verifiable and producible at the same time.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74552-FFFB-4588-9693-B76962F3C22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000250" cy="285750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F57EC-356A-4435-B846-0102BF4440EB}"/>
              </a:ext>
            </a:extLst>
          </p:cNvPr>
          <p:cNvSpPr>
            <a:spLocks noGrp="1"/>
          </p:cNvSpPr>
          <p:nvPr/>
        </p:nvSpPr>
        <p:spPr>
          <a:xfrm>
            <a:off x="685800" y="2124075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SCRIPT ANATOMY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E3924DF-803D-4F3C-BF8D-49DA4B31087C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0" cy="3190875"/>
          </a:xfrm>
          <a:prstGeom prst="line">
            <a:avLst/>
          </a:prstGeom>
          <a:noFill/>
          <a:ln w="4762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4A46FB-B449-4640-AFAC-6FE5EA77BECB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LEAD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C1A08-B459-4F7F-9F41-380A2B22DDE1}"/>
              </a:ext>
            </a:extLst>
          </p:cNvPr>
          <p:cNvSpPr>
            <a:spLocks noGrp="1"/>
          </p:cNvSpPr>
          <p:nvPr/>
        </p:nvSpPr>
        <p:spPr>
          <a:xfrm>
            <a:off x="1905000" y="253365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“A late vote tonight has reset the timeline…”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022B32F-CF30-4155-A7C1-36AE4387A9E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59055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4AC0A-D723-462D-A2C2-2DBDCD1143C1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17045B-ADF4-4413-A138-B6CBB5AFF112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Why this matters now—one fact per sentence.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838A882-570E-4FBD-9C63-773816B01322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59055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4111BC-D9C0-4175-8E30-C9C7418A6B8D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SOT CUE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9F428C-7301-4CEA-8734-467ED2548516}"/>
              </a:ext>
            </a:extLst>
          </p:cNvPr>
          <p:cNvSpPr>
            <a:spLocks noGrp="1"/>
          </p:cNvSpPr>
          <p:nvPr/>
        </p:nvSpPr>
        <p:spPr>
          <a:xfrm>
            <a:off x="1905000" y="375285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1A22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61A22"/>
                </a:solidFill>
                <a:latin typeface="Courier New"/>
                <a:ea typeface="Courier New"/>
                <a:cs typeface="Courier New"/>
              </a:rPr>
              <a:t>[SOT 12:14–12:27 | speaker | verified duration]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047E047-D0FF-47FA-AE84-A2D0EA5FE6A1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59055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2BE4F0-B3E0-4058-9AD3-15DA42B3001C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0D4987-0EDB-45F2-8031-3F32F590D274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Explain the consequence; do not repeat the soundbite.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D28E257A-F455-4024-BF6E-38B0A1C9A8A8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59055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8DFB4D-37B2-452D-93A9-B601979E2977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TAG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C9A325-DFEE-46EF-BACA-1A4A00C8B3E5}"/>
              </a:ext>
            </a:extLst>
          </p:cNvPr>
          <p:cNvSpPr>
            <a:spLocks noGrp="1"/>
          </p:cNvSpPr>
          <p:nvPr/>
        </p:nvSpPr>
        <p:spPr>
          <a:xfrm>
            <a:off x="1905000" y="4972050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What happens next, where and when.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52DEB488-8DE5-40E2-802F-7A8CA728DA77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5905500" cy="0"/>
          </a:xfrm>
          <a:prstGeom prst="line">
            <a:avLst/>
          </a:prstGeom>
          <a:noFill/>
          <a:ln w="7620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773822A8-D223-4810-92BD-BE455DA3682F}"/>
              </a:ext>
            </a:extLst>
          </p:cNvPr>
          <p:cNvSpPr>
            <a:spLocks noGrp="1"/>
          </p:cNvSpPr>
          <p:nvPr/>
        </p:nvSpPr>
        <p:spPr>
          <a:xfrm>
            <a:off x="7181850" y="2114550"/>
            <a:ext cx="0" cy="3590925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673B29-167F-4593-A80C-DBAD52F13C1B}"/>
              </a:ext>
            </a:extLst>
          </p:cNvPr>
          <p:cNvSpPr>
            <a:spLocks noGrp="1"/>
          </p:cNvSpPr>
          <p:nvPr/>
        </p:nvSpPr>
        <p:spPr>
          <a:xfrm>
            <a:off x="7543800" y="2152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EDITORIAL CHECK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7916E6-470F-4C06-98A6-3C6A08ECB14B}"/>
              </a:ext>
            </a:extLst>
          </p:cNvPr>
          <p:cNvSpPr>
            <a:spLocks noGrp="1"/>
          </p:cNvSpPr>
          <p:nvPr/>
        </p:nvSpPr>
        <p:spPr>
          <a:xfrm>
            <a:off x="7543800" y="2647950"/>
            <a:ext cx="266700" cy="266700"/>
          </a:xfrm>
          <a:prstGeom prst="ellipse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1DE8E9-2201-4146-8DA7-8B28872493FE}"/>
              </a:ext>
            </a:extLst>
          </p:cNvPr>
          <p:cNvSpPr>
            <a:spLocks noGrp="1"/>
          </p:cNvSpPr>
          <p:nvPr/>
        </p:nvSpPr>
        <p:spPr>
          <a:xfrm>
            <a:off x="7543800" y="26955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EEB69-FB63-4A83-8F4C-E75EFFF150DB}"/>
              </a:ext>
            </a:extLst>
          </p:cNvPr>
          <p:cNvSpPr>
            <a:spLocks noGrp="1"/>
          </p:cNvSpPr>
          <p:nvPr/>
        </p:nvSpPr>
        <p:spPr>
          <a:xfrm>
            <a:off x="7962900" y="26479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EAR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0D68ED-8CC0-4AA8-9154-9BE537BFE21B}"/>
              </a:ext>
            </a:extLst>
          </p:cNvPr>
          <p:cNvSpPr>
            <a:spLocks noGrp="1"/>
          </p:cNvSpPr>
          <p:nvPr/>
        </p:nvSpPr>
        <p:spPr>
          <a:xfrm>
            <a:off x="8648700" y="26289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Short sentences; natural phrasing; active voice.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0B4882-B498-4FF1-90AB-B4BDA12C31A6}"/>
              </a:ext>
            </a:extLst>
          </p:cNvPr>
          <p:cNvSpPr>
            <a:spLocks noGrp="1"/>
          </p:cNvSpPr>
          <p:nvPr/>
        </p:nvSpPr>
        <p:spPr>
          <a:xfrm>
            <a:off x="7543800" y="3238500"/>
            <a:ext cx="266700" cy="266700"/>
          </a:xfrm>
          <a:prstGeom prst="ellipse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6015B1-F099-4DCD-AE4C-4BDAACE0C34A}"/>
              </a:ext>
            </a:extLst>
          </p:cNvPr>
          <p:cNvSpPr>
            <a:spLocks noGrp="1"/>
          </p:cNvSpPr>
          <p:nvPr/>
        </p:nvSpPr>
        <p:spPr>
          <a:xfrm>
            <a:off x="7543800" y="32861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6964C6-8795-42BE-8B43-84B26BE64E3D}"/>
              </a:ext>
            </a:extLst>
          </p:cNvPr>
          <p:cNvSpPr>
            <a:spLocks noGrp="1"/>
          </p:cNvSpPr>
          <p:nvPr/>
        </p:nvSpPr>
        <p:spPr>
          <a:xfrm>
            <a:off x="7962900" y="323850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FACT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B34DD5-E25F-4829-9820-6BC42EA27897}"/>
              </a:ext>
            </a:extLst>
          </p:cNvPr>
          <p:cNvSpPr>
            <a:spLocks noGrp="1"/>
          </p:cNvSpPr>
          <p:nvPr/>
        </p:nvSpPr>
        <p:spPr>
          <a:xfrm>
            <a:off x="8648700" y="32194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Every assertion traces to a source.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C0D883A-A17B-45D3-B7C6-BBEE32A887F2}"/>
              </a:ext>
            </a:extLst>
          </p:cNvPr>
          <p:cNvSpPr>
            <a:spLocks noGrp="1"/>
          </p:cNvSpPr>
          <p:nvPr/>
        </p:nvSpPr>
        <p:spPr>
          <a:xfrm>
            <a:off x="7543800" y="3829050"/>
            <a:ext cx="266700" cy="266700"/>
          </a:xfrm>
          <a:prstGeom prst="ellipse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6642A3-7D74-4738-93FD-2EDD02F9111A}"/>
              </a:ext>
            </a:extLst>
          </p:cNvPr>
          <p:cNvSpPr>
            <a:spLocks noGrp="1"/>
          </p:cNvSpPr>
          <p:nvPr/>
        </p:nvSpPr>
        <p:spPr>
          <a:xfrm>
            <a:off x="7543800" y="38766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E7BE2B-6D39-48C0-8371-EA13E796BAB5}"/>
              </a:ext>
            </a:extLst>
          </p:cNvPr>
          <p:cNvSpPr>
            <a:spLocks noGrp="1"/>
          </p:cNvSpPr>
          <p:nvPr/>
        </p:nvSpPr>
        <p:spPr>
          <a:xfrm>
            <a:off x="7962900" y="38290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74296E-1EFD-49F5-88A4-14DB2C5A7139}"/>
              </a:ext>
            </a:extLst>
          </p:cNvPr>
          <p:cNvSpPr>
            <a:spLocks noGrp="1"/>
          </p:cNvSpPr>
          <p:nvPr/>
        </p:nvSpPr>
        <p:spPr>
          <a:xfrm>
            <a:off x="8648700" y="38100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 at delivery pace; verify clip durations.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3B5091-1C85-40D6-875E-09BAB72BE16F}"/>
              </a:ext>
            </a:extLst>
          </p:cNvPr>
          <p:cNvSpPr>
            <a:spLocks noGrp="1"/>
          </p:cNvSpPr>
          <p:nvPr/>
        </p:nvSpPr>
        <p:spPr>
          <a:xfrm>
            <a:off x="7543800" y="4419600"/>
            <a:ext cx="266700" cy="266700"/>
          </a:xfrm>
          <a:prstGeom prst="ellipse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1120A9-D900-40E6-B978-6246D4D71E97}"/>
              </a:ext>
            </a:extLst>
          </p:cNvPr>
          <p:cNvSpPr>
            <a:spLocks noGrp="1"/>
          </p:cNvSpPr>
          <p:nvPr/>
        </p:nvSpPr>
        <p:spPr>
          <a:xfrm>
            <a:off x="7543800" y="44672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B9513A-4A25-44E8-91D7-3BAA111BC1A3}"/>
              </a:ext>
            </a:extLst>
          </p:cNvPr>
          <p:cNvSpPr>
            <a:spLocks noGrp="1"/>
          </p:cNvSpPr>
          <p:nvPr/>
        </p:nvSpPr>
        <p:spPr>
          <a:xfrm>
            <a:off x="7962900" y="441960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CUE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2F5383-A540-4198-BD83-2DD4AA234621}"/>
              </a:ext>
            </a:extLst>
          </p:cNvPr>
          <p:cNvSpPr>
            <a:spLocks noGrp="1"/>
          </p:cNvSpPr>
          <p:nvPr/>
        </p:nvSpPr>
        <p:spPr>
          <a:xfrm>
            <a:off x="8648700" y="44005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18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Media, graphics and pronunciation cues are explicit.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9B19FDB-D070-4366-9D2D-2B9A293FC397}"/>
              </a:ext>
            </a:extLst>
          </p:cNvPr>
          <p:cNvSpPr>
            <a:spLocks noGrp="1"/>
          </p:cNvSpPr>
          <p:nvPr/>
        </p:nvSpPr>
        <p:spPr>
          <a:xfrm>
            <a:off x="7543800" y="5010150"/>
            <a:ext cx="266700" cy="266700"/>
          </a:xfrm>
          <a:prstGeom prst="ellipse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26FC5D-54D1-4AB5-AEA4-E4C6208555A7}"/>
              </a:ext>
            </a:extLst>
          </p:cNvPr>
          <p:cNvSpPr>
            <a:spLocks noGrp="1"/>
          </p:cNvSpPr>
          <p:nvPr/>
        </p:nvSpPr>
        <p:spPr>
          <a:xfrm>
            <a:off x="7543800" y="50577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45D056-5FB2-4665-B3C5-71A6A9D72E26}"/>
              </a:ext>
            </a:extLst>
          </p:cNvPr>
          <p:cNvSpPr>
            <a:spLocks noGrp="1"/>
          </p:cNvSpPr>
          <p:nvPr/>
        </p:nvSpPr>
        <p:spPr>
          <a:xfrm>
            <a:off x="7962900" y="5010150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33BB17-D615-4BF2-9C2A-211879774B71}"/>
              </a:ext>
            </a:extLst>
          </p:cNvPr>
          <p:cNvSpPr>
            <a:spLocks noGrp="1"/>
          </p:cNvSpPr>
          <p:nvPr/>
        </p:nvSpPr>
        <p:spPr>
          <a:xfrm>
            <a:off x="8648700" y="49911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tag advances the story and resolves the segment.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5C76CC-297F-4D55-8E1D-A6CF95C623F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guide — adapt fields, status names and approvals to local newsroom SOP</a:t>
            </a:r>
          </a:p>
        </p:txBody>
      </p:sp>
    </p:spTree>
    <p:extLst>
      <p:ext uri="{BB962C8B-B14F-4D97-AF65-F5344CB8AC3E}">
        <p14:creationId xmlns:p14="http://schemas.microsoft.com/office/powerpoint/2010/main" val="582618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EFDC10C-68D1-4FB4-A700-F6F69BC2150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AFAB3-AF53-46AA-AD64-3D54DFAD359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18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One master script keeps collaboration safe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8A75439-5163-4971-80C6-DAC04F3E74C6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50BBA7-093A-4995-810D-C6B2B155E4E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7537D-3F95-4EFC-B52E-1432B62C2AD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Parallel work is fast only when authority and change discipline are explicit.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AE52F6-9169-483C-B189-20A207EB2CC8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914400" cy="285750"/>
          </a:xfrm>
          <a:prstGeom prst="rect">
            <a:avLst/>
          </a:prstGeom>
          <a:solidFill>
            <a:srgbClr val="D94B45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8FA13-D26A-4D69-9FD1-19755A2D5368}"/>
              </a:ext>
            </a:extLst>
          </p:cNvPr>
          <p:cNvSpPr>
            <a:spLocks noGrp="1"/>
          </p:cNvSpPr>
          <p:nvPr/>
        </p:nvSpPr>
        <p:spPr>
          <a:xfrm>
            <a:off x="685800" y="216217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A11DA-04DF-4613-AE36-5A5560CAF0B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rPr>
              <a:t>Reporter_copy_FINAL_v3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390E5-1528-4A8E-864E-72856DE415D1}"/>
              </a:ext>
            </a:extLst>
          </p:cNvPr>
          <p:cNvSpPr>
            <a:spLocks noGrp="1"/>
          </p:cNvSpPr>
          <p:nvPr/>
        </p:nvSpPr>
        <p:spPr>
          <a:xfrm>
            <a:off x="1219200" y="3257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rPr>
              <a:t>Producer_copy_NEW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DF803-B4B1-4A26-8EB7-F09190FFA03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94B45"/>
                </a:solidFill>
                <a:latin typeface="Courier New"/>
                <a:ea typeface="Courier New"/>
                <a:cs typeface="Courier New"/>
              </a:rPr>
              <a:t>Editor_notes_revised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DE89AE-F709-4358-82FD-4F3EEE6F10D6}"/>
              </a:ext>
            </a:extLst>
          </p:cNvPr>
          <p:cNvSpPr>
            <a:spLocks noGrp="1"/>
          </p:cNvSpPr>
          <p:nvPr/>
        </p:nvSpPr>
        <p:spPr>
          <a:xfrm>
            <a:off x="3600450" y="3371850"/>
            <a:ext cx="7429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400" b="1">
                <a:solidFill>
                  <a:srgbClr val="D94B45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D94B45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1CE006-EFEA-4A02-9BCA-16B84E0F6A7E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Side copies hide the latest fact, cue and approval.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924722E-24D3-4ED3-B060-9713B863164C}"/>
              </a:ext>
            </a:extLst>
          </p:cNvPr>
          <p:cNvSpPr>
            <a:spLocks noGrp="1"/>
          </p:cNvSpPr>
          <p:nvPr/>
        </p:nvSpPr>
        <p:spPr>
          <a:xfrm>
            <a:off x="4857750" y="2114550"/>
            <a:ext cx="0" cy="361950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4F8CF9-3D6C-49FB-8454-4483981DD82A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819150" cy="28575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EF01A-DC25-4157-9556-98C35675D2D1}"/>
              </a:ext>
            </a:extLst>
          </p:cNvPr>
          <p:cNvSpPr>
            <a:spLocks noGrp="1"/>
          </p:cNvSpPr>
          <p:nvPr/>
        </p:nvSpPr>
        <p:spPr>
          <a:xfrm>
            <a:off x="5314950" y="21621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6" name="reporter">
            <a:extLst>
              <a:ext uri="{FF2B5EF4-FFF2-40B4-BE49-F238E27FC236}">
                <a16:creationId xmlns:a16="http://schemas.microsoft.com/office/drawing/2014/main" id="{3DBF0FDA-3377-449B-BA98-845E8EBAEBF5}"/>
              </a:ext>
            </a:extLst>
          </p:cNvPr>
          <p:cNvSpPr>
            <a:spLocks noGrp="1"/>
          </p:cNvSpPr>
          <p:nvPr/>
        </p:nvSpPr>
        <p:spPr>
          <a:xfrm>
            <a:off x="5391150" y="2952750"/>
            <a:ext cx="1524000" cy="609600"/>
          </a:xfrm>
          <a:prstGeom prst="rect">
            <a:avLst/>
          </a:prstGeom>
          <a:solidFill>
            <a:srgbClr val="DCE8FF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2E57C2-E985-4825-B922-2F72EFE7EF35}"/>
              </a:ext>
            </a:extLst>
          </p:cNvPr>
          <p:cNvSpPr>
            <a:spLocks noGrp="1"/>
          </p:cNvSpPr>
          <p:nvPr/>
        </p:nvSpPr>
        <p:spPr>
          <a:xfrm>
            <a:off x="5505450" y="30861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834" lnSpcReduction="10000"/>
          </a:bodyPr>
          <a:lstStyle/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REPORTER</a:t>
            </a:r>
          </a:p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Draft + source</a:t>
            </a:r>
          </a:p>
        </p:txBody>
      </p:sp>
      <p:sp>
        <p:nvSpPr>
          <p:cNvPr id="18" name="master">
            <a:extLst>
              <a:ext uri="{FF2B5EF4-FFF2-40B4-BE49-F238E27FC236}">
                <a16:creationId xmlns:a16="http://schemas.microsoft.com/office/drawing/2014/main" id="{A91AEB24-F2FE-4B96-B965-8DA9F2EBB94B}"/>
              </a:ext>
            </a:extLst>
          </p:cNvPr>
          <p:cNvSpPr>
            <a:spLocks noGrp="1"/>
          </p:cNvSpPr>
          <p:nvPr/>
        </p:nvSpPr>
        <p:spPr>
          <a:xfrm>
            <a:off x="7543800" y="2724150"/>
            <a:ext cx="1809750" cy="10668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7EF4B-3C67-4A4E-82CE-09F69F8D6284}"/>
              </a:ext>
            </a:extLst>
          </p:cNvPr>
          <p:cNvSpPr>
            <a:spLocks noGrp="1"/>
          </p:cNvSpPr>
          <p:nvPr/>
        </p:nvSpPr>
        <p:spPr>
          <a:xfrm>
            <a:off x="7715250" y="29908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757" lnSpcReduction="10000"/>
          </a:bodyPr>
          <a:lstStyle/>
          <a:p>
            <a:pPr algn="ctr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MASTER SCRIPT</a:t>
            </a:r>
          </a:p>
          <a:p>
            <a:pPr algn="ctr">
              <a:lnSpc>
                <a:spcPct val="9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Authoritative version</a:t>
            </a:r>
          </a:p>
        </p:txBody>
      </p:sp>
      <p:sp>
        <p:nvSpPr>
          <p:cNvPr id="20" name="editor">
            <a:extLst>
              <a:ext uri="{FF2B5EF4-FFF2-40B4-BE49-F238E27FC236}">
                <a16:creationId xmlns:a16="http://schemas.microsoft.com/office/drawing/2014/main" id="{74CE4F34-89C0-44B9-82CE-03F887C84B2D}"/>
              </a:ext>
            </a:extLst>
          </p:cNvPr>
          <p:cNvSpPr>
            <a:spLocks noGrp="1"/>
          </p:cNvSpPr>
          <p:nvPr/>
        </p:nvSpPr>
        <p:spPr>
          <a:xfrm>
            <a:off x="9982200" y="2952750"/>
            <a:ext cx="1524000" cy="609600"/>
          </a:xfrm>
          <a:prstGeom prst="rect">
            <a:avLst/>
          </a:prstGeom>
          <a:solidFill>
            <a:srgbClr val="DCE8FF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53A642-D74C-4727-9708-53F549BF4487}"/>
              </a:ext>
            </a:extLst>
          </p:cNvPr>
          <p:cNvSpPr>
            <a:spLocks noGrp="1"/>
          </p:cNvSpPr>
          <p:nvPr/>
        </p:nvSpPr>
        <p:spPr>
          <a:xfrm>
            <a:off x="10096500" y="30861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76" lnSpcReduction="10000"/>
          </a:bodyPr>
          <a:lstStyle/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EDITOR</a:t>
            </a:r>
          </a:p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Verify + approve</a:t>
            </a:r>
          </a:p>
        </p:txBody>
      </p:sp>
      <p:cxnSp>
        <p:nvCxnSpPr>
          <p:cNvPr id="22" name="Straight Arrow Connector 21"/>
          <p:cNvCxnSpPr>
            <a:stCxn id="16" idx="3"/>
            <a:endCxn id="18" idx="1"/>
          </p:cNvCxnSpPr>
          <p:nvPr/>
        </p:nvCxnSpPr>
        <p:spPr>
          <a:xfrm>
            <a:off x="6915150" y="3257550"/>
            <a:ext cx="628650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23" name="Straight Arrow Connector 22"/>
          <p:cNvCxnSpPr>
            <a:stCxn id="20" idx="1"/>
            <a:endCxn id="18" idx="3"/>
          </p:cNvCxnSpPr>
          <p:nvPr/>
        </p:nvCxnSpPr>
        <p:spPr>
          <a:xfrm flipH="1">
            <a:off x="9353550" y="3257550"/>
            <a:ext cx="628650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sp>
        <p:nvSpPr>
          <p:cNvPr id="24" name="producer">
            <a:extLst>
              <a:ext uri="{FF2B5EF4-FFF2-40B4-BE49-F238E27FC236}">
                <a16:creationId xmlns:a16="http://schemas.microsoft.com/office/drawing/2014/main" id="{9F0A8FA9-D2A8-442B-AAEB-D12E60D94287}"/>
              </a:ext>
            </a:extLst>
          </p:cNvPr>
          <p:cNvSpPr>
            <a:spLocks noGrp="1"/>
          </p:cNvSpPr>
          <p:nvPr/>
        </p:nvSpPr>
        <p:spPr>
          <a:xfrm>
            <a:off x="7543800" y="4457700"/>
            <a:ext cx="1809750" cy="552450"/>
          </a:xfrm>
          <a:prstGeom prst="rect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AB2DFD-3A14-4085-B1C9-34EA4ABED907}"/>
              </a:ext>
            </a:extLst>
          </p:cNvPr>
          <p:cNvSpPr>
            <a:spLocks noGrp="1"/>
          </p:cNvSpPr>
          <p:nvPr/>
        </p:nvSpPr>
        <p:spPr>
          <a:xfrm>
            <a:off x="7715250" y="455295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55" lnSpcReduction="10000"/>
          </a:bodyPr>
          <a:lstStyle/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PRODUCER</a:t>
            </a:r>
          </a:p>
          <a:p>
            <a:pPr algn="ctr">
              <a:lnSpc>
                <a:spcPct val="9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Status + timing</a:t>
            </a:r>
          </a:p>
        </p:txBody>
      </p:sp>
      <p:cxnSp>
        <p:nvCxnSpPr>
          <p:cNvPr id="26" name="Straight Arrow Connector 25"/>
          <p:cNvCxnSpPr>
            <a:stCxn id="18" idx="2"/>
            <a:endCxn id="24" idx="0"/>
          </p:cNvCxnSpPr>
          <p:nvPr/>
        </p:nvCxnSpPr>
        <p:spPr>
          <a:xfrm>
            <a:off x="8448675" y="3790950"/>
            <a:ext cx="0" cy="66675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95CAA2D-A7BF-4E4A-885D-DCD6D8481EC2}"/>
              </a:ext>
            </a:extLst>
          </p:cNvPr>
          <p:cNvSpPr>
            <a:spLocks noGrp="1"/>
          </p:cNvSpPr>
          <p:nvPr/>
        </p:nvSpPr>
        <p:spPr>
          <a:xfrm>
            <a:off x="5238750" y="53149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WORKING RULES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FA49A6-7E8C-4EF0-A480-798C4FF44F15}"/>
              </a:ext>
            </a:extLst>
          </p:cNvPr>
          <p:cNvSpPr>
            <a:spLocks noGrp="1"/>
          </p:cNvSpPr>
          <p:nvPr/>
        </p:nvSpPr>
        <p:spPr>
          <a:xfrm>
            <a:off x="5238750" y="5600700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Declare ownership • Save meaningful changes • Resolve comments • Reconfirm after late edits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777265-3C54-4A12-A0CA-7F70ADDB399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guide — adapt fields, status names and approvals to local newsroom SOP</a:t>
            </a:r>
          </a:p>
        </p:txBody>
      </p:sp>
    </p:spTree>
    <p:extLst>
      <p:ext uri="{BB962C8B-B14F-4D97-AF65-F5344CB8AC3E}">
        <p14:creationId xmlns:p14="http://schemas.microsoft.com/office/powerpoint/2010/main" val="185721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18B4ACF-3070-4D78-83E1-C03AFF3FDB2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F1B38-AB06-42BB-B7F5-DB02745DF9A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Three review gates protect accuracy without delay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FC286D8-0AE4-4037-84B7-12EA5B2B8AA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92D02-8266-437C-9D1C-B88E8F8676D8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7CB37-558D-4FC3-8CC9-45B27C4D074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960"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 in layers: editorial truth first, production completeness second, air readiness last.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D35915-30D0-4738-B45A-50CF0619C179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91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97266-07DE-4167-A714-2B7F70032FF7}"/>
              </a:ext>
            </a:extLst>
          </p:cNvPr>
          <p:cNvSpPr>
            <a:spLocks noGrp="1"/>
          </p:cNvSpPr>
          <p:nvPr/>
        </p:nvSpPr>
        <p:spPr>
          <a:xfrm>
            <a:off x="1638300" y="2286000"/>
            <a:ext cx="2143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EDITORIAL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E663A94-48E2-4992-A725-657F2CC603CC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3162300" cy="0"/>
          </a:xfrm>
          <a:prstGeom prst="line">
            <a:avLst/>
          </a:prstGeom>
          <a:noFill/>
          <a:ln w="4762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2B067E-DE4A-4584-9822-DB3B37E8E3A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DECISION OWNER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D046D6-B6A6-4FA2-8978-53BFA9E55B48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Assigning editor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19D773-4598-4068-BD4D-D40A4E33DFD0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66675" cy="66675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F43CF9-E4ED-43EB-B45E-440891E192A5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Angle matches assignment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678AB-5A93-48BA-AB51-B80A8148C86D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D25AE-E427-427F-98A6-E341CD21067D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42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Names, numbers and claims verified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7C16A-66DA-4A93-906D-8FB17A266FE1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85846A-D9D7-4C6B-A83D-EF8ABB4BB64E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25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Language meets legal and standards rules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3797A3-EF63-488D-B06A-028B4239741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C073A-F8BD-4001-AD0C-EA7438263672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Script is clear when read aloud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F23BC87-8FC6-452C-966E-93266EBC6110}"/>
              </a:ext>
            </a:extLst>
          </p:cNvPr>
          <p:cNvSpPr>
            <a:spLocks noGrp="1"/>
          </p:cNvSpPr>
          <p:nvPr/>
        </p:nvSpPr>
        <p:spPr>
          <a:xfrm>
            <a:off x="4095750" y="2133600"/>
            <a:ext cx="0" cy="36004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3F87CA-9542-4E22-9DA2-ADC465EA7159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91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F4C542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4C54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561E1-33C7-49C3-837E-9689509F3D60}"/>
              </a:ext>
            </a:extLst>
          </p:cNvPr>
          <p:cNvSpPr>
            <a:spLocks noGrp="1"/>
          </p:cNvSpPr>
          <p:nvPr/>
        </p:nvSpPr>
        <p:spPr>
          <a:xfrm>
            <a:off x="5353050" y="2286000"/>
            <a:ext cx="2143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PRODUCTION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722D979-BB30-44C3-A9C1-B9A8DF429C4D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3162300" cy="0"/>
          </a:xfrm>
          <a:prstGeom prst="line">
            <a:avLst/>
          </a:prstGeom>
          <a:noFill/>
          <a:ln w="47625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B17B9B-1253-49DA-B26C-3C134FDD1527}"/>
              </a:ext>
            </a:extLst>
          </p:cNvPr>
          <p:cNvSpPr>
            <a:spLocks noGrp="1"/>
          </p:cNvSpPr>
          <p:nvPr/>
        </p:nvSpPr>
        <p:spPr>
          <a:xfrm>
            <a:off x="4324350" y="31051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DECISION OWNER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BD9719-6968-4858-98F6-FEC885C967EE}"/>
              </a:ext>
            </a:extLst>
          </p:cNvPr>
          <p:cNvSpPr>
            <a:spLocks noGrp="1"/>
          </p:cNvSpPr>
          <p:nvPr/>
        </p:nvSpPr>
        <p:spPr>
          <a:xfrm>
            <a:off x="4324350" y="3333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CFF4B5-0AE1-4138-B947-9083268AC8B5}"/>
              </a:ext>
            </a:extLst>
          </p:cNvPr>
          <p:cNvSpPr>
            <a:spLocks noGrp="1"/>
          </p:cNvSpPr>
          <p:nvPr/>
        </p:nvSpPr>
        <p:spPr>
          <a:xfrm>
            <a:off x="4324350" y="3924300"/>
            <a:ext cx="66675" cy="66675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6F118E-F5A7-4E6D-B68E-DCDEECF2669C}"/>
              </a:ext>
            </a:extLst>
          </p:cNvPr>
          <p:cNvSpPr>
            <a:spLocks noGrp="1"/>
          </p:cNvSpPr>
          <p:nvPr/>
        </p:nvSpPr>
        <p:spPr>
          <a:xfrm>
            <a:off x="4514850" y="38481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Durations and format are credible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7BF7A-CDB2-4866-9DBB-DC4EBF637A44}"/>
              </a:ext>
            </a:extLst>
          </p:cNvPr>
          <p:cNvSpPr>
            <a:spLocks noGrp="1"/>
          </p:cNvSpPr>
          <p:nvPr/>
        </p:nvSpPr>
        <p:spPr>
          <a:xfrm>
            <a:off x="4324350" y="43434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52E6D6-2307-4A50-A93D-720623BCB240}"/>
              </a:ext>
            </a:extLst>
          </p:cNvPr>
          <p:cNvSpPr>
            <a:spLocks noGrp="1"/>
          </p:cNvSpPr>
          <p:nvPr/>
        </p:nvSpPr>
        <p:spPr>
          <a:xfrm>
            <a:off x="4514850" y="4267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81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Media and graphics cues are linked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48A1AF-3A95-4888-93A4-913E5269BC0B}"/>
              </a:ext>
            </a:extLst>
          </p:cNvPr>
          <p:cNvSpPr>
            <a:spLocks noGrp="1"/>
          </p:cNvSpPr>
          <p:nvPr/>
        </p:nvSpPr>
        <p:spPr>
          <a:xfrm>
            <a:off x="4324350" y="47625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DA6355-2174-4473-BF37-6BBC2D7BEAAD}"/>
              </a:ext>
            </a:extLst>
          </p:cNvPr>
          <p:cNvSpPr>
            <a:spLocks noGrp="1"/>
          </p:cNvSpPr>
          <p:nvPr/>
        </p:nvSpPr>
        <p:spPr>
          <a:xfrm>
            <a:off x="4514850" y="4686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825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Pronunciations and supers are resolved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1EF098-49EA-4EED-8904-B090428F41F7}"/>
              </a:ext>
            </a:extLst>
          </p:cNvPr>
          <p:cNvSpPr>
            <a:spLocks noGrp="1"/>
          </p:cNvSpPr>
          <p:nvPr/>
        </p:nvSpPr>
        <p:spPr>
          <a:xfrm>
            <a:off x="4324350" y="51816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91ECBC-9250-44EE-B0F2-AEE8026A8DEC}"/>
              </a:ext>
            </a:extLst>
          </p:cNvPr>
          <p:cNvSpPr>
            <a:spLocks noGrp="1"/>
          </p:cNvSpPr>
          <p:nvPr/>
        </p:nvSpPr>
        <p:spPr>
          <a:xfrm>
            <a:off x="4514850" y="51054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47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Dependencies have confirmed owners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C2E5A848-5C53-4243-B778-20E3A47F5FB9}"/>
              </a:ext>
            </a:extLst>
          </p:cNvPr>
          <p:cNvSpPr>
            <a:spLocks noGrp="1"/>
          </p:cNvSpPr>
          <p:nvPr/>
        </p:nvSpPr>
        <p:spPr>
          <a:xfrm>
            <a:off x="7810500" y="2133600"/>
            <a:ext cx="0" cy="36004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FADD3D-6F23-480F-AB08-DD5B299B12D4}"/>
              </a:ext>
            </a:extLst>
          </p:cNvPr>
          <p:cNvSpPr>
            <a:spLocks noGrp="1"/>
          </p:cNvSpPr>
          <p:nvPr/>
        </p:nvSpPr>
        <p:spPr>
          <a:xfrm>
            <a:off x="8039100" y="2133600"/>
            <a:ext cx="914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2D7D5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D7D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2F9A6D-B229-4B50-92FE-0AB2181F8FDF}"/>
              </a:ext>
            </a:extLst>
          </p:cNvPr>
          <p:cNvSpPr>
            <a:spLocks noGrp="1"/>
          </p:cNvSpPr>
          <p:nvPr/>
        </p:nvSpPr>
        <p:spPr>
          <a:xfrm>
            <a:off x="9067800" y="2286000"/>
            <a:ext cx="2143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AIR-READY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B760F794-3E14-4377-8344-FE4C5C5AE1F8}"/>
              </a:ext>
            </a:extLst>
          </p:cNvPr>
          <p:cNvSpPr>
            <a:spLocks noGrp="1"/>
          </p:cNvSpPr>
          <p:nvPr/>
        </p:nvSpPr>
        <p:spPr>
          <a:xfrm>
            <a:off x="8039100" y="2857500"/>
            <a:ext cx="3162300" cy="0"/>
          </a:xfrm>
          <a:prstGeom prst="line">
            <a:avLst/>
          </a:prstGeom>
          <a:noFill/>
          <a:ln w="47625">
            <a:solidFill>
              <a:srgbClr val="2D7D5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A517B8-06ED-4D1C-9781-1196990A704B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DECISION OWNER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8BBA1-AA61-4959-8C24-4C397091131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Line producer / control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1FACA8-97AE-41F0-9006-24CDE63D31E3}"/>
              </a:ext>
            </a:extLst>
          </p:cNvPr>
          <p:cNvSpPr>
            <a:spLocks noGrp="1"/>
          </p:cNvSpPr>
          <p:nvPr/>
        </p:nvSpPr>
        <p:spPr>
          <a:xfrm>
            <a:off x="8039100" y="3924300"/>
            <a:ext cx="66675" cy="66675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2F0DBB-E185-4DA8-A8A4-FA8A2E3FD38A}"/>
              </a:ext>
            </a:extLst>
          </p:cNvPr>
          <p:cNvSpPr>
            <a:spLocks noGrp="1"/>
          </p:cNvSpPr>
          <p:nvPr/>
        </p:nvSpPr>
        <p:spPr>
          <a:xfrm>
            <a:off x="8229600" y="38481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36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Rundown order and backtime align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909FB3-A682-47E4-95C1-5C7E8849BD33}"/>
              </a:ext>
            </a:extLst>
          </p:cNvPr>
          <p:cNvSpPr>
            <a:spLocks noGrp="1"/>
          </p:cNvSpPr>
          <p:nvPr/>
        </p:nvSpPr>
        <p:spPr>
          <a:xfrm>
            <a:off x="8039100" y="43434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A53107-64EE-458D-A80A-F004C7751EAB}"/>
              </a:ext>
            </a:extLst>
          </p:cNvPr>
          <p:cNvSpPr>
            <a:spLocks noGrp="1"/>
          </p:cNvSpPr>
          <p:nvPr/>
        </p:nvSpPr>
        <p:spPr>
          <a:xfrm>
            <a:off x="8229600" y="4267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Statuses reflect actual readiness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0B10C9-FD7F-4366-8E49-61950C522D1F}"/>
              </a:ext>
            </a:extLst>
          </p:cNvPr>
          <p:cNvSpPr>
            <a:spLocks noGrp="1"/>
          </p:cNvSpPr>
          <p:nvPr/>
        </p:nvSpPr>
        <p:spPr>
          <a:xfrm>
            <a:off x="8039100" y="47625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9559B0-54FF-447A-ACC1-3A039AFC92DD}"/>
              </a:ext>
            </a:extLst>
          </p:cNvPr>
          <p:cNvSpPr>
            <a:spLocks noGrp="1"/>
          </p:cNvSpPr>
          <p:nvPr/>
        </p:nvSpPr>
        <p:spPr>
          <a:xfrm>
            <a:off x="8229600" y="4686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47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Fallbacks exist for live or missing items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FAC30F-52A3-4DFF-842D-3C34EC995BE7}"/>
              </a:ext>
            </a:extLst>
          </p:cNvPr>
          <p:cNvSpPr>
            <a:spLocks noGrp="1"/>
          </p:cNvSpPr>
          <p:nvPr/>
        </p:nvSpPr>
        <p:spPr>
          <a:xfrm>
            <a:off x="8039100" y="5181600"/>
            <a:ext cx="66675" cy="66675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8490D5-9435-49C0-9CF2-B7FD09F8FB04}"/>
              </a:ext>
            </a:extLst>
          </p:cNvPr>
          <p:cNvSpPr>
            <a:spLocks noGrp="1"/>
          </p:cNvSpPr>
          <p:nvPr/>
        </p:nvSpPr>
        <p:spPr>
          <a:xfrm>
            <a:off x="8229600" y="51054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Late changes are communicated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5CEC8C-8DE5-4457-9C7B-A7AC2B8ED9FD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69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PASS means the next team can act. HOLD means the reason and owner are visible.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5EA162-7457-4443-9A0A-DB12634415F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guide — adapt fields, status names and approvals to local newsroom SOP</a:t>
            </a:r>
          </a:p>
        </p:txBody>
      </p:sp>
    </p:spTree>
    <p:extLst>
      <p:ext uri="{BB962C8B-B14F-4D97-AF65-F5344CB8AC3E}">
        <p14:creationId xmlns:p14="http://schemas.microsoft.com/office/powerpoint/2010/main" val="172947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268063E-69C0-4672-98C3-9FAC90D7590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72CA4-4A79-4FE0-BACB-EDB528E3926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805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Media cues become production commitments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0C69997-A840-44A3-A63A-0D78EFD65A6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C96EC-89A7-4EA2-911E-23209F70ECA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ACA1E-A22E-4E25-B8D2-34F32FC1C46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cue is complete only when the asset, instruction, timing and readiness state agree.</a:t>
            </a:r>
          </a:p>
        </p:txBody>
      </p:sp>
      <p:sp>
        <p:nvSpPr>
          <p:cNvPr id="6" name="media-0">
            <a:extLst>
              <a:ext uri="{FF2B5EF4-FFF2-40B4-BE49-F238E27FC236}">
                <a16:creationId xmlns:a16="http://schemas.microsoft.com/office/drawing/2014/main" id="{5D42F02A-7BEC-4858-9BD1-ABF06E387B5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000250" cy="781050"/>
          </a:xfrm>
          <a:prstGeom prst="rect">
            <a:avLst/>
          </a:prstGeom>
          <a:solidFill>
            <a:srgbClr val="DCE8FF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E7A28-D9A5-4463-882F-C68D29948BB8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SCRIPT CUE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F4C3BF-DD4E-41E4-A27C-57E71DEAD582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1733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36" lnSpcReduction="10000"/>
          </a:bodyPr>
          <a:lstStyle/>
          <a:p>
            <a:pPr algn="ctr">
              <a:lnSpc>
                <a:spcPct val="95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What the audience should see or hear</a:t>
            </a:r>
          </a:p>
        </p:txBody>
      </p:sp>
      <p:sp>
        <p:nvSpPr>
          <p:cNvPr id="9" name="media-1">
            <a:extLst>
              <a:ext uri="{FF2B5EF4-FFF2-40B4-BE49-F238E27FC236}">
                <a16:creationId xmlns:a16="http://schemas.microsoft.com/office/drawing/2014/main" id="{25177083-B3D5-43BD-B43E-422243DA8747}"/>
              </a:ext>
            </a:extLst>
          </p:cNvPr>
          <p:cNvSpPr>
            <a:spLocks noGrp="1"/>
          </p:cNvSpPr>
          <p:nvPr/>
        </p:nvSpPr>
        <p:spPr>
          <a:xfrm>
            <a:off x="3257550" y="2571750"/>
            <a:ext cx="2190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FBB14-5E9A-4A34-BB36-B61306F60707}"/>
              </a:ext>
            </a:extLst>
          </p:cNvPr>
          <p:cNvSpPr>
            <a:spLocks noGrp="1"/>
          </p:cNvSpPr>
          <p:nvPr/>
        </p:nvSpPr>
        <p:spPr>
          <a:xfrm>
            <a:off x="3390900" y="2705100"/>
            <a:ext cx="1924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MEDIA / GRAPHICS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CA4982-B508-49FD-9080-3E791C63E99E}"/>
              </a:ext>
            </a:extLst>
          </p:cNvPr>
          <p:cNvSpPr>
            <a:spLocks noGrp="1"/>
          </p:cNvSpPr>
          <p:nvPr/>
        </p:nvSpPr>
        <p:spPr>
          <a:xfrm>
            <a:off x="3390900" y="29908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36" lnSpcReduction="10000"/>
          </a:bodyPr>
          <a:lstStyle/>
          <a:p>
            <a:pPr algn="ctr">
              <a:lnSpc>
                <a:spcPct val="95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Asset or MOS object linked to the story</a:t>
            </a:r>
          </a:p>
        </p:txBody>
      </p:sp>
      <p:sp>
        <p:nvSpPr>
          <p:cNvPr id="12" name="media-2">
            <a:extLst>
              <a:ext uri="{FF2B5EF4-FFF2-40B4-BE49-F238E27FC236}">
                <a16:creationId xmlns:a16="http://schemas.microsoft.com/office/drawing/2014/main" id="{554AD1F3-E5A1-4FD7-8BEB-4C49272DEDCA}"/>
              </a:ext>
            </a:extLst>
          </p:cNvPr>
          <p:cNvSpPr>
            <a:spLocks noGrp="1"/>
          </p:cNvSpPr>
          <p:nvPr/>
        </p:nvSpPr>
        <p:spPr>
          <a:xfrm>
            <a:off x="6134100" y="2571750"/>
            <a:ext cx="2190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C15AA-75C8-4F94-A133-E5D0B77B732C}"/>
              </a:ext>
            </a:extLst>
          </p:cNvPr>
          <p:cNvSpPr>
            <a:spLocks noGrp="1"/>
          </p:cNvSpPr>
          <p:nvPr/>
        </p:nvSpPr>
        <p:spPr>
          <a:xfrm>
            <a:off x="6267450" y="2705100"/>
            <a:ext cx="1924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55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PRODUCTION CHECK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3D9144-34B3-4111-99BC-2BBA5DF01FCE}"/>
              </a:ext>
            </a:extLst>
          </p:cNvPr>
          <p:cNvSpPr>
            <a:spLocks noGrp="1"/>
          </p:cNvSpPr>
          <p:nvPr/>
        </p:nvSpPr>
        <p:spPr>
          <a:xfrm>
            <a:off x="6267450" y="2990850"/>
            <a:ext cx="1924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9" lnSpcReduction="10000"/>
          </a:bodyPr>
          <a:lstStyle/>
          <a:p>
            <a:pPr algn="ctr">
              <a:lnSpc>
                <a:spcPct val="95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Owner validates content, duration and playability</a:t>
            </a:r>
          </a:p>
        </p:txBody>
      </p:sp>
      <p:sp>
        <p:nvSpPr>
          <p:cNvPr id="15" name="media-3">
            <a:extLst>
              <a:ext uri="{FF2B5EF4-FFF2-40B4-BE49-F238E27FC236}">
                <a16:creationId xmlns:a16="http://schemas.microsoft.com/office/drawing/2014/main" id="{0601C373-BEAC-4ACA-A12A-3DDAF4F367C9}"/>
              </a:ext>
            </a:extLst>
          </p:cNvPr>
          <p:cNvSpPr>
            <a:spLocks noGrp="1"/>
          </p:cNvSpPr>
          <p:nvPr/>
        </p:nvSpPr>
        <p:spPr>
          <a:xfrm>
            <a:off x="9105900" y="2571750"/>
            <a:ext cx="2000250" cy="781050"/>
          </a:xfrm>
          <a:prstGeom prst="rect">
            <a:avLst/>
          </a:prstGeom>
          <a:solidFill>
            <a:srgbClr val="F4C542"/>
          </a:solidFill>
          <a:ln w="14288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D8D53-5A5C-4957-975C-73E68A24C0B3}"/>
              </a:ext>
            </a:extLst>
          </p:cNvPr>
          <p:cNvSpPr>
            <a:spLocks noGrp="1"/>
          </p:cNvSpPr>
          <p:nvPr/>
        </p:nvSpPr>
        <p:spPr>
          <a:xfrm>
            <a:off x="9239250" y="27051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READY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82416F-115A-4414-B21D-5E40450D2230}"/>
              </a:ext>
            </a:extLst>
          </p:cNvPr>
          <p:cNvSpPr>
            <a:spLocks noGrp="1"/>
          </p:cNvSpPr>
          <p:nvPr/>
        </p:nvSpPr>
        <p:spPr>
          <a:xfrm>
            <a:off x="9239250" y="2990850"/>
            <a:ext cx="1733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36" lnSpcReduction="10000"/>
          </a:bodyPr>
          <a:lstStyle/>
          <a:p>
            <a:pPr algn="ctr">
              <a:lnSpc>
                <a:spcPct val="95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Rundown reflects what can air now</a:t>
            </a:r>
          </a:p>
        </p:txBody>
      </p:sp>
      <p:cxnSp>
        <p:nvCxnSpPr>
          <p:cNvPr id="18" name="Straight Arrow Connector 17"/>
          <p:cNvCxnSpPr>
            <a:stCxn id="6" idx="3"/>
            <a:endCxn id="9" idx="1"/>
          </p:cNvCxnSpPr>
          <p:nvPr/>
        </p:nvCxnSpPr>
        <p:spPr>
          <a:xfrm>
            <a:off x="2686050" y="2962275"/>
            <a:ext cx="571500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19" name="Straight Arrow Connector 18"/>
          <p:cNvCxnSpPr>
            <a:stCxn id="9" idx="3"/>
            <a:endCxn id="12" idx="1"/>
          </p:cNvCxnSpPr>
          <p:nvPr/>
        </p:nvCxnSpPr>
        <p:spPr>
          <a:xfrm>
            <a:off x="5448300" y="2962275"/>
            <a:ext cx="685800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cxnSp>
        <p:nvCxnSpPr>
          <p:cNvPr id="20" name="Straight Arrow Connector 19"/>
          <p:cNvCxnSpPr>
            <a:stCxn id="12" idx="3"/>
            <a:endCxn id="15" idx="1"/>
          </p:cNvCxnSpPr>
          <p:nvPr/>
        </p:nvCxnSpPr>
        <p:spPr>
          <a:xfrm>
            <a:off x="8324850" y="2962275"/>
            <a:ext cx="781050" cy="0"/>
          </a:xfrm>
          <a:prstGeom prst="straightConnector1">
            <a:avLst/>
          </a:prstGeom>
          <a:ln w="19050">
            <a:solidFill>
              <a:srgbClr val="1358D0"/>
            </a:solidFill>
            <a:prstDash val="solid"/>
            <a:tailEnd type="triangle" w="sm" len="sm"/>
          </a:ln>
        </p:spPr>
      </p:cxn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ECD6ECB-0874-4840-83C1-BBE72BE9D6C0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8FF49-7AF8-45B5-918C-B8E3EAA4D904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A COMPLETE CUE NAMES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512D10-46F8-4A9F-9E2F-095595504CE3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95250" cy="7620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1F1DCE-5DDB-4443-81DB-3D3AC6E03BD7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90266-7AA7-4A6D-8035-40B39CA35106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Exact clip, still, graphic, lower third or live source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9BA7EA-B51B-4D0E-9AED-53EB396F7793}"/>
              </a:ext>
            </a:extLst>
          </p:cNvPr>
          <p:cNvSpPr>
            <a:spLocks noGrp="1"/>
          </p:cNvSpPr>
          <p:nvPr/>
        </p:nvSpPr>
        <p:spPr>
          <a:xfrm>
            <a:off x="3352800" y="4629150"/>
            <a:ext cx="95250" cy="7620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C661D-C718-40F5-B62A-C10004EC381B}"/>
              </a:ext>
            </a:extLst>
          </p:cNvPr>
          <p:cNvSpPr>
            <a:spLocks noGrp="1"/>
          </p:cNvSpPr>
          <p:nvPr/>
        </p:nvSpPr>
        <p:spPr>
          <a:xfrm>
            <a:off x="3600450" y="4629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IN / OUT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7ED6AE-998F-4F90-8075-2F0CE48A0CCE}"/>
              </a:ext>
            </a:extLst>
          </p:cNvPr>
          <p:cNvSpPr>
            <a:spLocks noGrp="1"/>
          </p:cNvSpPr>
          <p:nvPr/>
        </p:nvSpPr>
        <p:spPr>
          <a:xfrm>
            <a:off x="3600450" y="49339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Where it starts, how long it plays and how it ends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6CBF1F-12CD-43F6-85AF-2897EB632D7D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95250" cy="7620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3F2E32-427B-4A7B-BE20-D15F8C527C26}"/>
              </a:ext>
            </a:extLst>
          </p:cNvPr>
          <p:cNvSpPr>
            <a:spLocks noGrp="1"/>
          </p:cNvSpPr>
          <p:nvPr/>
        </p:nvSpPr>
        <p:spPr>
          <a:xfrm>
            <a:off x="6343650" y="4629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476594-2714-4C17-B59B-2FBC54FB0467}"/>
              </a:ext>
            </a:extLst>
          </p:cNvPr>
          <p:cNvSpPr>
            <a:spLocks noGrp="1"/>
          </p:cNvSpPr>
          <p:nvPr/>
        </p:nvSpPr>
        <p:spPr>
          <a:xfrm>
            <a:off x="6343650" y="49339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Who builds, verifies and releases 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F0296B-D9D5-400E-BFAF-9FA37BBA0FD6}"/>
              </a:ext>
            </a:extLst>
          </p:cNvPr>
          <p:cNvSpPr>
            <a:spLocks noGrp="1"/>
          </p:cNvSpPr>
          <p:nvPr/>
        </p:nvSpPr>
        <p:spPr>
          <a:xfrm>
            <a:off x="8839200" y="4629150"/>
            <a:ext cx="95250" cy="762000"/>
          </a:xfrm>
          <a:prstGeom prst="rect">
            <a:avLst/>
          </a:prstGeom>
          <a:solidFill>
            <a:srgbClr val="F4C542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73B760-6CE9-448C-B5EB-E0AF4FA7D2C0}"/>
              </a:ext>
            </a:extLst>
          </p:cNvPr>
          <p:cNvSpPr>
            <a:spLocks noGrp="1"/>
          </p:cNvSpPr>
          <p:nvPr/>
        </p:nvSpPr>
        <p:spPr>
          <a:xfrm>
            <a:off x="9086850" y="4629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7160E9-FD1F-4454-8AC0-415AB27711FC}"/>
              </a:ext>
            </a:extLst>
          </p:cNvPr>
          <p:cNvSpPr>
            <a:spLocks noGrp="1"/>
          </p:cNvSpPr>
          <p:nvPr/>
        </p:nvSpPr>
        <p:spPr>
          <a:xfrm>
            <a:off x="9086850" y="49339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airs if the primary asset fails or is delayed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1889AE-8517-4A16-A8B2-2549CE6702BF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D94B4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D94B45"/>
                </a:solidFill>
                <a:latin typeface="Aptos Display"/>
                <a:ea typeface="Aptos Display"/>
                <a:cs typeface="Aptos Display"/>
              </a:rPr>
              <a:t>Never mark “ready” from a filename alone—validate content and playout.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DA1F0F-41AD-48C9-8DFB-223351E7D96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MOS Protocol documentation and general newsroom production practice; local integrations vary.</a:t>
            </a:r>
          </a:p>
        </p:txBody>
      </p:sp>
    </p:spTree>
    <p:extLst>
      <p:ext uri="{BB962C8B-B14F-4D97-AF65-F5344CB8AC3E}">
        <p14:creationId xmlns:p14="http://schemas.microsoft.com/office/powerpoint/2010/main" val="45872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57EBCF-F3B4-4D40-9B34-BDCDE3B32DB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42DB8-22B2-4140-BFCC-3BE450695E2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The rundown turns priorities into a timed plan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C059D33-7BCB-4135-ADCA-FCA78E351D93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648A25-41E0-4D47-833F-6E8ABDFB46F8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62BE5-27D0-4CA1-A948-DD60AED9212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Order stories for editorial impact—then make every duration and dependency explicit.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F90AD-9D18-42AB-AD72-DDC4153757AE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ILLUSTRATIVE RUNDOWN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609600" y="2419350"/>
          <a:ext cx="7905750" cy="3257548"/>
        </p:xfrm>
        <a:graphic>
          <a:graphicData uri="http://schemas.openxmlformats.org/drawingml/2006/table">
            <a:tbl>
              <a:tblPr/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BLK</a:t>
                      </a:r>
                    </a:p>
                  </a:txBody>
                  <a:tcPr>
                    <a:solidFill>
                      <a:srgbClr val="135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SLUG</a:t>
                      </a:r>
                    </a:p>
                  </a:txBody>
                  <a:tcPr>
                    <a:solidFill>
                      <a:srgbClr val="135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OWNER</a:t>
                      </a:r>
                    </a:p>
                  </a:txBody>
                  <a:tcPr>
                    <a:solidFill>
                      <a:srgbClr val="135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DUR</a:t>
                      </a:r>
                    </a:p>
                  </a:txBody>
                  <a:tcPr>
                    <a:solidFill>
                      <a:srgbClr val="135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1358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OPEN / HEADLINES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Producer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00:30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358D0"/>
                          </a:solidFill>
                          <a:latin typeface="Aptos"/>
                          <a:ea typeface="Aptos"/>
                          <a:cs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LEAD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358D0"/>
                          </a:solidFill>
                          <a:latin typeface="Aptos"/>
                          <a:ea typeface="Aptos"/>
                          <a:cs typeface="Aptos"/>
                        </a:rPr>
                        <a:t>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SOT — KEY VOICE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Media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01:15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358D0"/>
                          </a:solidFill>
                          <a:latin typeface="Aptos"/>
                          <a:ea typeface="Aptos"/>
                          <a:cs typeface="Aptos"/>
                        </a:rPr>
                        <a:t>MEDIA READY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VO —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Writer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358D0"/>
                          </a:solidFill>
                          <a:latin typeface="Aptos"/>
                          <a:ea typeface="Aptos"/>
                          <a:cs typeface="Aptos"/>
                        </a:rPr>
                        <a:t>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LIVE — REPORTER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Desk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02:30</a:t>
                      </a:r>
                    </a:p>
                  </a:txBody>
                  <a:tcPr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D94B45"/>
                          </a:solidFill>
                          <a:latin typeface="Aptos"/>
                          <a:ea typeface="Aptos"/>
                          <a:cs typeface="Aptos"/>
                        </a:rPr>
                        <a:t>HOLD</a:t>
                      </a:r>
                    </a:p>
                  </a:txBody>
                  <a:tcPr>
                    <a:solidFill>
                      <a:srgbClr val="FBE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36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CLOSE /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Producer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61A22"/>
                          </a:solidFill>
                          <a:latin typeface="Aptos"/>
                          <a:ea typeface="Aptos"/>
                          <a:cs typeface="Aptos"/>
                        </a:rPr>
                        <a:t>00:20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358D0"/>
                          </a:solidFill>
                          <a:latin typeface="Aptos"/>
                          <a:ea typeface="Aptos"/>
                          <a:cs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1AD1A46-F295-49D8-B929-CA6DD608DBD7}"/>
              </a:ext>
            </a:extLst>
          </p:cNvPr>
          <p:cNvSpPr>
            <a:spLocks noGrp="1"/>
          </p:cNvSpPr>
          <p:nvPr/>
        </p:nvSpPr>
        <p:spPr>
          <a:xfrm>
            <a:off x="8877300" y="2133600"/>
            <a:ext cx="0" cy="361950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B5695E-EF4B-404E-BB9C-C5AD9411D7DE}"/>
              </a:ext>
            </a:extLst>
          </p:cNvPr>
          <p:cNvSpPr>
            <a:spLocks noGrp="1"/>
          </p:cNvSpPr>
          <p:nvPr/>
        </p:nvSpPr>
        <p:spPr>
          <a:xfrm>
            <a:off x="9277350" y="21717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78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TIMING LOGIC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A09813-A0D5-42C3-BA68-A5D9814631ED}"/>
              </a:ext>
            </a:extLst>
          </p:cNvPr>
          <p:cNvSpPr>
            <a:spLocks noGrp="1"/>
          </p:cNvSpPr>
          <p:nvPr/>
        </p:nvSpPr>
        <p:spPr>
          <a:xfrm>
            <a:off x="9277350" y="28003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TOTAL BLOCK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C9B9B-BF0F-41B9-892D-A400ADDCBE55}"/>
              </a:ext>
            </a:extLst>
          </p:cNvPr>
          <p:cNvSpPr>
            <a:spLocks noGrp="1"/>
          </p:cNvSpPr>
          <p:nvPr/>
        </p:nvSpPr>
        <p:spPr>
          <a:xfrm>
            <a:off x="9277350" y="30670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59"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Σ item durations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6CBE15-0103-45EE-AA8A-A7F52B78B42D}"/>
              </a:ext>
            </a:extLst>
          </p:cNvPr>
          <p:cNvSpPr>
            <a:spLocks noGrp="1"/>
          </p:cNvSpPr>
          <p:nvPr/>
        </p:nvSpPr>
        <p:spPr>
          <a:xfrm>
            <a:off x="9277350" y="37338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BACKTIME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A25E7-B688-4EA5-BF46-29F0A4DAFD42}"/>
              </a:ext>
            </a:extLst>
          </p:cNvPr>
          <p:cNvSpPr>
            <a:spLocks noGrp="1"/>
          </p:cNvSpPr>
          <p:nvPr/>
        </p:nvSpPr>
        <p:spPr>
          <a:xfrm>
            <a:off x="9277350" y="40005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85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Fixed out − remaining content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BCED4B-693D-451F-A695-61FDCFC02FB8}"/>
              </a:ext>
            </a:extLst>
          </p:cNvPr>
          <p:cNvSpPr>
            <a:spLocks noGrp="1"/>
          </p:cNvSpPr>
          <p:nvPr/>
        </p:nvSpPr>
        <p:spPr>
          <a:xfrm>
            <a:off x="9277350" y="49339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447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BUFFER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31616-415D-4E4F-BD54-3FDCBA7B906D}"/>
              </a:ext>
            </a:extLst>
          </p:cNvPr>
          <p:cNvSpPr>
            <a:spLocks noGrp="1"/>
          </p:cNvSpPr>
          <p:nvPr/>
        </p:nvSpPr>
        <p:spPr>
          <a:xfrm>
            <a:off x="9277350" y="52006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3" lnSpcReduction="10000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Protect transitions, uncertainty and live variance.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B23B48-99F8-4812-AA38-49E3E72ACC6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Illustrative statuses and durations — use the vocabulary and timing rules configured in your newsroom.</a:t>
            </a:r>
          </a:p>
        </p:txBody>
      </p:sp>
    </p:spTree>
    <p:extLst>
      <p:ext uri="{BB962C8B-B14F-4D97-AF65-F5344CB8AC3E}">
        <p14:creationId xmlns:p14="http://schemas.microsoft.com/office/powerpoint/2010/main" val="137912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A9D6211-AE4F-4BD8-B410-4E2AC5EB2C0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09BA0-B563-4301-A40F-5ACAB18DD61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Live control depends on timing and exception discipline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9A623EC-2214-4DEE-9628-15D4961B7F9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FED0FF-E933-4E8A-BE68-F7C3171B091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3F126-2588-4D48-AEA6-DF96445C21A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40"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Freeze the plan deliberately; then change it with clear commands and visible consequences.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079D204-D902-4C74-91F5-5BE3ACF70821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9715500" cy="0"/>
          </a:xfrm>
          <a:prstGeom prst="line">
            <a:avLst/>
          </a:prstGeom>
          <a:noFill/>
          <a:ln w="38100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AD927F-7408-4D87-8F85-97DBA21CA33D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419100" cy="419100"/>
          </a:xfrm>
          <a:prstGeom prst="ellipse">
            <a:avLst/>
          </a:prstGeom>
          <a:solidFill>
            <a:srgbClr val="F7F3E8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BF258-C7AF-4F0B-B0A4-940353DA893B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T–30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74B612-5A2A-4A6C-809F-4A29B1B0E01E}"/>
              </a:ext>
            </a:extLst>
          </p:cNvPr>
          <p:cNvSpPr>
            <a:spLocks noGrp="1"/>
          </p:cNvSpPr>
          <p:nvPr/>
        </p:nvSpPr>
        <p:spPr>
          <a:xfrm>
            <a:off x="314325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Reconcile order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29FBB6-3564-4CA1-9395-64495DE9A8C6}"/>
              </a:ext>
            </a:extLst>
          </p:cNvPr>
          <p:cNvSpPr>
            <a:spLocks noGrp="1"/>
          </p:cNvSpPr>
          <p:nvPr/>
        </p:nvSpPr>
        <p:spPr>
          <a:xfrm>
            <a:off x="2790825" y="2552700"/>
            <a:ext cx="419100" cy="419100"/>
          </a:xfrm>
          <a:prstGeom prst="ellipse">
            <a:avLst/>
          </a:prstGeom>
          <a:solidFill>
            <a:srgbClr val="F7F3E8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09D95-286C-4AD0-A258-0FB9F9D1E11A}"/>
              </a:ext>
            </a:extLst>
          </p:cNvPr>
          <p:cNvSpPr>
            <a:spLocks noGrp="1"/>
          </p:cNvSpPr>
          <p:nvPr/>
        </p:nvSpPr>
        <p:spPr>
          <a:xfrm>
            <a:off x="2752725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T–15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DE238-9231-43E4-B1CC-47FE276A083C}"/>
              </a:ext>
            </a:extLst>
          </p:cNvPr>
          <p:cNvSpPr>
            <a:spLocks noGrp="1"/>
          </p:cNvSpPr>
          <p:nvPr/>
        </p:nvSpPr>
        <p:spPr>
          <a:xfrm>
            <a:off x="2266950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Confirm assets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FE4F26-A919-49B5-902C-BC31C8359017}"/>
              </a:ext>
            </a:extLst>
          </p:cNvPr>
          <p:cNvSpPr>
            <a:spLocks noGrp="1"/>
          </p:cNvSpPr>
          <p:nvPr/>
        </p:nvSpPr>
        <p:spPr>
          <a:xfrm>
            <a:off x="4743450" y="2552700"/>
            <a:ext cx="419100" cy="419100"/>
          </a:xfrm>
          <a:prstGeom prst="ellipse">
            <a:avLst/>
          </a:prstGeom>
          <a:solidFill>
            <a:srgbClr val="F7F3E8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EDB90D-EDA9-41C9-B251-A3B36A77DCCA}"/>
              </a:ext>
            </a:extLst>
          </p:cNvPr>
          <p:cNvSpPr>
            <a:spLocks noGrp="1"/>
          </p:cNvSpPr>
          <p:nvPr/>
        </p:nvSpPr>
        <p:spPr>
          <a:xfrm>
            <a:off x="4705350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T–05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588B67-C77C-4A86-B368-52B816056628}"/>
              </a:ext>
            </a:extLst>
          </p:cNvPr>
          <p:cNvSpPr>
            <a:spLocks noGrp="1"/>
          </p:cNvSpPr>
          <p:nvPr/>
        </p:nvSpPr>
        <p:spPr>
          <a:xfrm>
            <a:off x="4219575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13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Freeze noncritical edits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1247DC-5F6E-484E-8DB7-DCE305A5454B}"/>
              </a:ext>
            </a:extLst>
          </p:cNvPr>
          <p:cNvSpPr>
            <a:spLocks noGrp="1"/>
          </p:cNvSpPr>
          <p:nvPr/>
        </p:nvSpPr>
        <p:spPr>
          <a:xfrm>
            <a:off x="6696075" y="2552700"/>
            <a:ext cx="419100" cy="419100"/>
          </a:xfrm>
          <a:prstGeom prst="ellipse">
            <a:avLst/>
          </a:prstGeom>
          <a:solidFill>
            <a:srgbClr val="F4C542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DBC17B-D8DC-49B7-85AD-DD8AB544187C}"/>
              </a:ext>
            </a:extLst>
          </p:cNvPr>
          <p:cNvSpPr>
            <a:spLocks noGrp="1"/>
          </p:cNvSpPr>
          <p:nvPr/>
        </p:nvSpPr>
        <p:spPr>
          <a:xfrm>
            <a:off x="6657975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AIR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54B744-3DF2-4084-BF08-25E5AA039582}"/>
              </a:ext>
            </a:extLst>
          </p:cNvPr>
          <p:cNvSpPr>
            <a:spLocks noGrp="1"/>
          </p:cNvSpPr>
          <p:nvPr/>
        </p:nvSpPr>
        <p:spPr>
          <a:xfrm>
            <a:off x="6172200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Call the show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2B0553-F086-43EB-B71D-23C82104B368}"/>
              </a:ext>
            </a:extLst>
          </p:cNvPr>
          <p:cNvSpPr>
            <a:spLocks noGrp="1"/>
          </p:cNvSpPr>
          <p:nvPr/>
        </p:nvSpPr>
        <p:spPr>
          <a:xfrm>
            <a:off x="8648700" y="2552700"/>
            <a:ext cx="419100" cy="419100"/>
          </a:xfrm>
          <a:prstGeom prst="ellipse">
            <a:avLst/>
          </a:prstGeom>
          <a:solidFill>
            <a:srgbClr val="F7F3E8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E54286-12C6-45AE-BDEE-D731930DE739}"/>
              </a:ext>
            </a:extLst>
          </p:cNvPr>
          <p:cNvSpPr>
            <a:spLocks noGrp="1"/>
          </p:cNvSpPr>
          <p:nvPr/>
        </p:nvSpPr>
        <p:spPr>
          <a:xfrm>
            <a:off x="8610600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ED482-CD36-4E73-8EC5-04A6C0F3717E}"/>
              </a:ext>
            </a:extLst>
          </p:cNvPr>
          <p:cNvSpPr>
            <a:spLocks noGrp="1"/>
          </p:cNvSpPr>
          <p:nvPr/>
        </p:nvSpPr>
        <p:spPr>
          <a:xfrm>
            <a:off x="8124825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Track over / under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292486-E3AC-4C1B-A824-F7EA785980FD}"/>
              </a:ext>
            </a:extLst>
          </p:cNvPr>
          <p:cNvSpPr>
            <a:spLocks noGrp="1"/>
          </p:cNvSpPr>
          <p:nvPr/>
        </p:nvSpPr>
        <p:spPr>
          <a:xfrm>
            <a:off x="10601325" y="2552700"/>
            <a:ext cx="419100" cy="419100"/>
          </a:xfrm>
          <a:prstGeom prst="ellipse">
            <a:avLst/>
          </a:prstGeom>
          <a:solidFill>
            <a:srgbClr val="F7F3E8"/>
          </a:solidFill>
          <a:ln w="28575">
            <a:solidFill>
              <a:srgbClr val="1358D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9848B-186A-44E3-B29A-855E543600CE}"/>
              </a:ext>
            </a:extLst>
          </p:cNvPr>
          <p:cNvSpPr>
            <a:spLocks noGrp="1"/>
          </p:cNvSpPr>
          <p:nvPr/>
        </p:nvSpPr>
        <p:spPr>
          <a:xfrm>
            <a:off x="10563225" y="266700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84C1C9-2421-45E9-94CB-9D4A496790D6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Reconcile changes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78FA9B5D-6533-4C57-BECD-5BF4AF68A71F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C8D251-2FF5-454E-86D1-EB886B2BD336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EXCEPTION RULES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687652-2337-4D2E-BA05-F17CF5A15CD7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A story overruns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4D5B82-36A4-45A7-8A34-0CE0A977196D}"/>
              </a:ext>
            </a:extLst>
          </p:cNvPr>
          <p:cNvSpPr>
            <a:spLocks noGrp="1"/>
          </p:cNvSpPr>
          <p:nvPr/>
        </p:nvSpPr>
        <p:spPr>
          <a:xfrm>
            <a:off x="2495550" y="46672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Name the variance; trim or drop by editorial priority—not convenience.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66E6D1-6357-43E8-A830-BC3A0E20C0A4}"/>
              </a:ext>
            </a:extLst>
          </p:cNvPr>
          <p:cNvSpPr>
            <a:spLocks noGrp="1"/>
          </p:cNvSpPr>
          <p:nvPr/>
        </p:nvSpPr>
        <p:spPr>
          <a:xfrm>
            <a:off x="6191250" y="4686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D94B4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4B45"/>
                </a:solidFill>
                <a:latin typeface="Aptos"/>
                <a:ea typeface="Aptos"/>
                <a:cs typeface="Aptos"/>
              </a:rPr>
              <a:t>An asset fails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C2B2FC-8AC3-424C-99B6-7BB2EC13FA99}"/>
              </a:ext>
            </a:extLst>
          </p:cNvPr>
          <p:cNvSpPr>
            <a:spLocks noGrp="1"/>
          </p:cNvSpPr>
          <p:nvPr/>
        </p:nvSpPr>
        <p:spPr>
          <a:xfrm>
            <a:off x="8077200" y="46672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Trigger the named fallback; update the cue and readiness state.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227D03-93CA-40C7-9693-2382BE4F5711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A fact changes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10F91D-7715-48EC-81AE-6F93912E4BA0}"/>
              </a:ext>
            </a:extLst>
          </p:cNvPr>
          <p:cNvSpPr>
            <a:spLocks noGrp="1"/>
          </p:cNvSpPr>
          <p:nvPr/>
        </p:nvSpPr>
        <p:spPr>
          <a:xfrm>
            <a:off x="2495550" y="55054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Editor re-verifies; producer re-times; control receives the change.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C50070-6BA9-46EB-9D92-BBDBC12F5DCA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A live slot moves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5339FA-324C-4383-9BFC-4E52DFF4D94D}"/>
              </a:ext>
            </a:extLst>
          </p:cNvPr>
          <p:cNvSpPr>
            <a:spLocks noGrp="1"/>
          </p:cNvSpPr>
          <p:nvPr/>
        </p:nvSpPr>
        <p:spPr>
          <a:xfrm>
            <a:off x="8077200" y="55054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Recalculate backtime and confirm the next two transitions.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9770D3-F5B0-454D-8ED4-6B1FFD4EC86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guide — adapt fields, status names and approvals to local newsroom SOP</a:t>
            </a:r>
          </a:p>
        </p:txBody>
      </p:sp>
    </p:spTree>
    <p:extLst>
      <p:ext uri="{BB962C8B-B14F-4D97-AF65-F5344CB8AC3E}">
        <p14:creationId xmlns:p14="http://schemas.microsoft.com/office/powerpoint/2010/main" val="116997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82F0D45-1B7A-45C7-812D-4036F6053A7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ENPS NEWSROOM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7D939B-1D7B-4C5E-93F6-A46CFDD886F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85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3"/>
          </a:bodyPr>
          <a:lstStyle/>
          <a:p>
            <a:pPr algn="l">
              <a:lnSpc>
                <a:spcPct val="86000"/>
              </a:lnSpc>
              <a:buNone/>
              <a:def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Final means every item is owned, timed and ready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8A1D4ED-B86F-44D8-A026-128882238AE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0"/>
          </a:xfrm>
          <a:prstGeom prst="line">
            <a:avLst/>
          </a:prstGeom>
          <a:noFill/>
          <a:ln w="11430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81C46A-9B1E-4CEE-977F-F197BCA3A6CE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1358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58D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64004-94FE-408E-8C54-B2BFF8B9296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this definition of done before the rundown becomes the control-room source of truth.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F999F-9565-4515-A824-BA0C7DCFC1BD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E9D55-8BF2-4961-A332-B226C8C4EF61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593711-E77A-4E50-9364-E8F368AF3B34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D0690C-A41A-4C9E-BA7F-F24523202C03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B9B547-8D1C-4305-82C3-A15E29979052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Angle and facts confirmed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2A3E0C-F3F3-492D-A050-72E70E8D12EA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EA263-ED99-4EC2-83D9-51162C78878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16137-68F9-43A1-91EE-505A38D2E933}"/>
              </a:ext>
            </a:extLst>
          </p:cNvPr>
          <p:cNvSpPr>
            <a:spLocks noGrp="1"/>
          </p:cNvSpPr>
          <p:nvPr/>
        </p:nvSpPr>
        <p:spPr>
          <a:xfrm>
            <a:off x="876300" y="39719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Script reads cleanly aloud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EDD017-C049-4307-866A-89E250CAF6C6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CA0DC-185F-4DBA-A785-29C8FB73BFA9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371A3E-3CB8-4F7A-B7A8-1E9C538F5F7C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529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Names, supers and pronunciations checked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534C3B2-512C-4179-930A-2373B9256B28}"/>
              </a:ext>
            </a:extLst>
          </p:cNvPr>
          <p:cNvSpPr>
            <a:spLocks noGrp="1"/>
          </p:cNvSpPr>
          <p:nvPr/>
        </p:nvSpPr>
        <p:spPr>
          <a:xfrm>
            <a:off x="3181350" y="2247900"/>
            <a:ext cx="0" cy="29527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C0BB8F-1C7F-43D9-BCF2-646FD593A682}"/>
              </a:ext>
            </a:extLst>
          </p:cNvPr>
          <p:cNvSpPr>
            <a:spLocks noGrp="1"/>
          </p:cNvSpPr>
          <p:nvPr/>
        </p:nvSpPr>
        <p:spPr>
          <a:xfrm>
            <a:off x="3390900" y="21907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9C78E8-F8CC-4D0D-99C5-90317CCB346E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PRODUCTION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B81E1F-A943-4FBF-B8F6-832558DB36A4}"/>
              </a:ext>
            </a:extLst>
          </p:cNvPr>
          <p:cNvSpPr>
            <a:spLocks noGrp="1"/>
          </p:cNvSpPr>
          <p:nvPr/>
        </p:nvSpPr>
        <p:spPr>
          <a:xfrm>
            <a:off x="3390900" y="339090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FDEEF2-5B50-4B19-B247-99E18B1E4F6C}"/>
              </a:ext>
            </a:extLst>
          </p:cNvPr>
          <p:cNvSpPr>
            <a:spLocks noGrp="1"/>
          </p:cNvSpPr>
          <p:nvPr/>
        </p:nvSpPr>
        <p:spPr>
          <a:xfrm>
            <a:off x="3390900" y="339090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0369E7-1E86-4C4D-AC7D-11173C3D30C2}"/>
              </a:ext>
            </a:extLst>
          </p:cNvPr>
          <p:cNvSpPr>
            <a:spLocks noGrp="1"/>
          </p:cNvSpPr>
          <p:nvPr/>
        </p:nvSpPr>
        <p:spPr>
          <a:xfrm>
            <a:off x="3657600" y="33337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Media and graphics validated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459D37-305E-415F-8C85-7FE926417B3B}"/>
              </a:ext>
            </a:extLst>
          </p:cNvPr>
          <p:cNvSpPr>
            <a:spLocks noGrp="1"/>
          </p:cNvSpPr>
          <p:nvPr/>
        </p:nvSpPr>
        <p:spPr>
          <a:xfrm>
            <a:off x="3390900" y="4029075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5940BD-F5DE-4FAF-B830-D084F78D06B8}"/>
              </a:ext>
            </a:extLst>
          </p:cNvPr>
          <p:cNvSpPr>
            <a:spLocks noGrp="1"/>
          </p:cNvSpPr>
          <p:nvPr/>
        </p:nvSpPr>
        <p:spPr>
          <a:xfrm>
            <a:off x="3390900" y="402907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819FF8-68EC-4013-B617-99BD22392167}"/>
              </a:ext>
            </a:extLst>
          </p:cNvPr>
          <p:cNvSpPr>
            <a:spLocks noGrp="1"/>
          </p:cNvSpPr>
          <p:nvPr/>
        </p:nvSpPr>
        <p:spPr>
          <a:xfrm>
            <a:off x="3657600" y="39719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Cues include in/out and fallback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2587C7-4FCB-46AD-8D67-4CADCCC5D0F3}"/>
              </a:ext>
            </a:extLst>
          </p:cNvPr>
          <p:cNvSpPr>
            <a:spLocks noGrp="1"/>
          </p:cNvSpPr>
          <p:nvPr/>
        </p:nvSpPr>
        <p:spPr>
          <a:xfrm>
            <a:off x="3390900" y="466725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B2D1C8-74A9-4385-AF13-6FC4068FF6D4}"/>
              </a:ext>
            </a:extLst>
          </p:cNvPr>
          <p:cNvSpPr>
            <a:spLocks noGrp="1"/>
          </p:cNvSpPr>
          <p:nvPr/>
        </p:nvSpPr>
        <p:spPr>
          <a:xfrm>
            <a:off x="3390900" y="466725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6F57C9-E7DB-450A-8CBC-AE300107FC83}"/>
              </a:ext>
            </a:extLst>
          </p:cNvPr>
          <p:cNvSpPr>
            <a:spLocks noGrp="1"/>
          </p:cNvSpPr>
          <p:nvPr/>
        </p:nvSpPr>
        <p:spPr>
          <a:xfrm>
            <a:off x="3657600" y="4610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Dependencies have confirmed owners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51A12B41-B1B8-4748-87EA-FE659B58907E}"/>
              </a:ext>
            </a:extLst>
          </p:cNvPr>
          <p:cNvSpPr>
            <a:spLocks noGrp="1"/>
          </p:cNvSpPr>
          <p:nvPr/>
        </p:nvSpPr>
        <p:spPr>
          <a:xfrm>
            <a:off x="5962650" y="2247900"/>
            <a:ext cx="0" cy="29527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03FCD-B6E4-4523-AD9B-D1B6370E589C}"/>
              </a:ext>
            </a:extLst>
          </p:cNvPr>
          <p:cNvSpPr>
            <a:spLocks noGrp="1"/>
          </p:cNvSpPr>
          <p:nvPr/>
        </p:nvSpPr>
        <p:spPr>
          <a:xfrm>
            <a:off x="6172200" y="21907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58D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AC2A50-C19F-41A8-B2FB-6D7D245CBEBF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RUNDOWN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4A448A-7FFC-4577-8132-811214B9292D}"/>
              </a:ext>
            </a:extLst>
          </p:cNvPr>
          <p:cNvSpPr>
            <a:spLocks noGrp="1"/>
          </p:cNvSpPr>
          <p:nvPr/>
        </p:nvSpPr>
        <p:spPr>
          <a:xfrm>
            <a:off x="6172200" y="339090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1E2D90-4BC6-4D1B-8ACC-CE403D61C131}"/>
              </a:ext>
            </a:extLst>
          </p:cNvPr>
          <p:cNvSpPr>
            <a:spLocks noGrp="1"/>
          </p:cNvSpPr>
          <p:nvPr/>
        </p:nvSpPr>
        <p:spPr>
          <a:xfrm>
            <a:off x="6172200" y="339090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5D2CE2-D970-46D9-AF62-2EEFBF213980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Order reflects editorial priority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33E7214-CE09-417A-981C-FB5AE512B293}"/>
              </a:ext>
            </a:extLst>
          </p:cNvPr>
          <p:cNvSpPr>
            <a:spLocks noGrp="1"/>
          </p:cNvSpPr>
          <p:nvPr/>
        </p:nvSpPr>
        <p:spPr>
          <a:xfrm>
            <a:off x="6172200" y="4029075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7FCB36-DDA1-492F-8DD6-0B29DDF8A048}"/>
              </a:ext>
            </a:extLst>
          </p:cNvPr>
          <p:cNvSpPr>
            <a:spLocks noGrp="1"/>
          </p:cNvSpPr>
          <p:nvPr/>
        </p:nvSpPr>
        <p:spPr>
          <a:xfrm>
            <a:off x="6172200" y="402907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40FAE4-E757-406D-BE18-2019C0FD427D}"/>
              </a:ext>
            </a:extLst>
          </p:cNvPr>
          <p:cNvSpPr>
            <a:spLocks noGrp="1"/>
          </p:cNvSpPr>
          <p:nvPr/>
        </p:nvSpPr>
        <p:spPr>
          <a:xfrm>
            <a:off x="6438900" y="39719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Durations, totals and backtime align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3D2669-48DD-40FA-B682-EAAE5BF436FE}"/>
              </a:ext>
            </a:extLst>
          </p:cNvPr>
          <p:cNvSpPr>
            <a:spLocks noGrp="1"/>
          </p:cNvSpPr>
          <p:nvPr/>
        </p:nvSpPr>
        <p:spPr>
          <a:xfrm>
            <a:off x="6172200" y="466725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8CC1F2-B1B4-4799-95D5-C401B436F0A0}"/>
              </a:ext>
            </a:extLst>
          </p:cNvPr>
          <p:cNvSpPr>
            <a:spLocks noGrp="1"/>
          </p:cNvSpPr>
          <p:nvPr/>
        </p:nvSpPr>
        <p:spPr>
          <a:xfrm>
            <a:off x="6172200" y="466725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B09365-391C-47DA-8BF3-6554B923438C}"/>
              </a:ext>
            </a:extLst>
          </p:cNvPr>
          <p:cNvSpPr>
            <a:spLocks noGrp="1"/>
          </p:cNvSpPr>
          <p:nvPr/>
        </p:nvSpPr>
        <p:spPr>
          <a:xfrm>
            <a:off x="6438900" y="4610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39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Holds name the blocker and next action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CE0651C5-41B4-43A6-8DEC-DF432FD3B15E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0" cy="2952750"/>
          </a:xfrm>
          <a:prstGeom prst="line">
            <a:avLst/>
          </a:prstGeom>
          <a:noFill/>
          <a:ln w="9525">
            <a:solidFill>
              <a:srgbClr val="C7C4B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9E6F16-B02C-4E7C-BFAC-E07ABD028F48}"/>
              </a:ext>
            </a:extLst>
          </p:cNvPr>
          <p:cNvSpPr>
            <a:spLocks noGrp="1"/>
          </p:cNvSpPr>
          <p:nvPr/>
        </p:nvSpPr>
        <p:spPr>
          <a:xfrm>
            <a:off x="8953500" y="21907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4C54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C54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22E9CF-646F-4391-8EFE-8E936FA9DBEE}"/>
              </a:ext>
            </a:extLst>
          </p:cNvPr>
          <p:cNvSpPr>
            <a:spLocks noGrp="1"/>
          </p:cNvSpPr>
          <p:nvPr/>
        </p:nvSpPr>
        <p:spPr>
          <a:xfrm>
            <a:off x="8953500" y="2838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1A22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D149127-D18B-438A-B15F-591F42B1697F}"/>
              </a:ext>
            </a:extLst>
          </p:cNvPr>
          <p:cNvSpPr>
            <a:spLocks noGrp="1"/>
          </p:cNvSpPr>
          <p:nvPr/>
        </p:nvSpPr>
        <p:spPr>
          <a:xfrm>
            <a:off x="8953500" y="339090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89E1F4-23F3-453F-AA88-FDAA71C01CD8}"/>
              </a:ext>
            </a:extLst>
          </p:cNvPr>
          <p:cNvSpPr>
            <a:spLocks noGrp="1"/>
          </p:cNvSpPr>
          <p:nvPr/>
        </p:nvSpPr>
        <p:spPr>
          <a:xfrm>
            <a:off x="8953500" y="339090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22232A-A928-4C30-8889-AF669B7800F0}"/>
              </a:ext>
            </a:extLst>
          </p:cNvPr>
          <p:cNvSpPr>
            <a:spLocks noGrp="1"/>
          </p:cNvSpPr>
          <p:nvPr/>
        </p:nvSpPr>
        <p:spPr>
          <a:xfrm>
            <a:off x="9220200" y="33337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Late changes communicated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6BB6824-00A3-4C68-BFB8-AC108497E867}"/>
              </a:ext>
            </a:extLst>
          </p:cNvPr>
          <p:cNvSpPr>
            <a:spLocks noGrp="1"/>
          </p:cNvSpPr>
          <p:nvPr/>
        </p:nvSpPr>
        <p:spPr>
          <a:xfrm>
            <a:off x="8953500" y="4029075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4207B5-EDFD-4221-BBA0-CA1FE726B2F6}"/>
              </a:ext>
            </a:extLst>
          </p:cNvPr>
          <p:cNvSpPr>
            <a:spLocks noGrp="1"/>
          </p:cNvSpPr>
          <p:nvPr/>
        </p:nvSpPr>
        <p:spPr>
          <a:xfrm>
            <a:off x="8953500" y="4029075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ECA16A-431E-4600-9DC8-5BA2D6FD5B82}"/>
              </a:ext>
            </a:extLst>
          </p:cNvPr>
          <p:cNvSpPr>
            <a:spLocks noGrp="1"/>
          </p:cNvSpPr>
          <p:nvPr/>
        </p:nvSpPr>
        <p:spPr>
          <a:xfrm>
            <a:off x="9220200" y="39719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Next transitions understood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5714A68-6505-4E03-A991-6425534D07EA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171450" cy="171450"/>
          </a:xfrm>
          <a:prstGeom prst="ellipse">
            <a:avLst/>
          </a:prstGeom>
          <a:solidFill>
            <a:srgbClr val="F4C542"/>
          </a:solidFill>
          <a:ln w="9525">
            <a:solidFill>
              <a:srgbClr val="161A2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D6AAF3B-DAD2-4660-ACCA-79BCF264408D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171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A2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247218F-9F73-458C-9F22-725065553F7F}"/>
              </a:ext>
            </a:extLst>
          </p:cNvPr>
          <p:cNvSpPr>
            <a:spLocks noGrp="1"/>
          </p:cNvSpPr>
          <p:nvPr/>
        </p:nvSpPr>
        <p:spPr>
          <a:xfrm>
            <a:off x="9220200" y="4610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1A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A22"/>
                </a:solidFill>
                <a:latin typeface="Aptos"/>
                <a:ea typeface="Aptos"/>
                <a:cs typeface="Aptos"/>
              </a:rPr>
              <a:t>Post-air reconciliation assigned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FEBC14-4534-4627-A7B9-686206976594}"/>
              </a:ext>
            </a:extLst>
          </p:cNvPr>
          <p:cNvSpPr>
            <a:spLocks noGrp="1"/>
          </p:cNvSpPr>
          <p:nvPr/>
        </p:nvSpPr>
        <p:spPr>
          <a:xfrm>
            <a:off x="0" y="5524500"/>
            <a:ext cx="12192000" cy="1104900"/>
          </a:xfrm>
          <a:prstGeom prst="rect">
            <a:avLst/>
          </a:prstGeom>
          <a:solidFill>
            <a:srgbClr val="1358D0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E2B58C4-8AA0-4BB0-8A61-B88B4528277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SOURCE  •  VISIBLE OWNERSHIP  •  TRUE READINESS  •  CONTROLLED TIME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607D0A-EA3F-46E2-BF35-88EBC72CF069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Use the final rundown to run the show—not to discover what is missing.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A540719-DCA6-4C37-A3FD-5A956549284C}"/>
              </a:ext>
            </a:extLst>
          </p:cNvPr>
          <p:cNvSpPr>
            <a:spLocks noGrp="1"/>
          </p:cNvSpPr>
          <p:nvPr/>
        </p:nvSpPr>
        <p:spPr>
          <a:xfrm>
            <a:off x="11258550" y="641032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6757539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 Blueprint">
  <a:themeElements>
    <a:clrScheme name="Editorial Blueprint">
      <a:dk1>
        <a:srgbClr val="000000"/>
      </a:dk1>
      <a:lt1>
        <a:srgbClr val="FFFFFF"/>
      </a:lt1>
      <a:dk2>
        <a:srgbClr val="161A22"/>
      </a:dk2>
      <a:lt2>
        <a:srgbClr val="DCE8FF"/>
      </a:lt2>
      <a:accent1>
        <a:srgbClr val="1358D0"/>
      </a:accent1>
      <a:accent2>
        <a:srgbClr val="F4C542"/>
      </a:accent2>
      <a:accent3>
        <a:srgbClr val="2D7D5B"/>
      </a:accent3>
      <a:accent4>
        <a:srgbClr val="D94B45"/>
      </a:accent4>
      <a:accent5>
        <a:srgbClr val="7457C8"/>
      </a:accent5>
      <a:accent6>
        <a:srgbClr val="1B9AAA"/>
      </a:accent6>
      <a:hlink>
        <a:srgbClr val="1358D0"/>
      </a:hlink>
      <a:folHlink>
        <a:srgbClr val="7457C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itorial Blueprin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1657</Words>
  <Application>Microsoft Office PowerPoint</Application>
  <PresentationFormat>Widescreen</PresentationFormat>
  <Paragraphs>324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Courier New</vt:lpstr>
      <vt:lpstr>Editorial Blueprint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Aptech Dxb</dc:creator>
  <cp:lastModifiedBy>Aptech Dxb</cp:lastModifiedBy>
  <cp:revision>1</cp:revision>
  <dcterms:created xsi:type="dcterms:W3CDTF">2026-09-28T09:23:53Z</dcterms:created>
  <dcterms:modified xsi:type="dcterms:W3CDTF">2026-09-28T09:39:10Z</dcterms:modified>
</cp:coreProperties>
</file>